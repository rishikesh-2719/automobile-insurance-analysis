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6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Arimo" charset="1" panose="020B0604020202020204"/>
      <p:regular r:id="rId19"/>
    </p:embeddedFont>
    <p:embeddedFont>
      <p:font typeface="Roboto" charset="1" panose="02000000000000000000"/>
      <p:regular r:id="rId20"/>
    </p:embeddedFont>
    <p:embeddedFont>
      <p:font typeface="Roboto Bold" charset="1" panose="0200000000000000000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notesMasters/notesMaster1.xml" Type="http://schemas.openxmlformats.org/officeDocument/2006/relationships/notesMaster"/><Relationship Id="rId17" Target="theme/theme2.xml" Type="http://schemas.openxmlformats.org/officeDocument/2006/relationships/theme"/><Relationship Id="rId18" Target="notesSlides/notesSlide1.xml" Type="http://schemas.openxmlformats.org/officeDocument/2006/relationships/notes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notesSlides/notesSlide2.xml" Type="http://schemas.openxmlformats.org/officeDocument/2006/relationships/notesSlide"/><Relationship Id="rId23" Target="notesSlides/notesSlide3.xml" Type="http://schemas.openxmlformats.org/officeDocument/2006/relationships/notesSlide"/><Relationship Id="rId24" Target="notesSlides/notesSlide4.xml" Type="http://schemas.openxmlformats.org/officeDocument/2006/relationships/notesSlide"/><Relationship Id="rId25" Target="notesSlides/notesSlide5.xml" Type="http://schemas.openxmlformats.org/officeDocument/2006/relationships/notesSlide"/><Relationship Id="rId26" Target="notesSlides/notesSlide6.xml" Type="http://schemas.openxmlformats.org/officeDocument/2006/relationships/notesSlide"/><Relationship Id="rId27" Target="notesSlides/notesSlide7.xml" Type="http://schemas.openxmlformats.org/officeDocument/2006/relationships/notesSlide"/><Relationship Id="rId28" Target="notesSlides/notesSlide8.xml" Type="http://schemas.openxmlformats.org/officeDocument/2006/relationships/notesSlide"/><Relationship Id="rId29" Target="notesSlides/notesSlide9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10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https://gamma.app/?utm_source=made-with-gamma" TargetMode="External" Type="http://schemas.openxmlformats.org/officeDocument/2006/relationships/hyperlink"/><Relationship Id="rId4" Target="../media/image1.png" Type="http://schemas.openxmlformats.org/officeDocument/2006/relationships/image"/><Relationship Id="rId5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.png" Type="http://schemas.openxmlformats.org/officeDocument/2006/relationships/image"/><Relationship Id="rId11" Target="../media/image11.svg" Type="http://schemas.openxmlformats.org/officeDocument/2006/relationships/image"/><Relationship Id="rId12" Target="../media/image12.png" Type="http://schemas.openxmlformats.org/officeDocument/2006/relationships/image"/><Relationship Id="rId13" Target="../media/image13.png" Type="http://schemas.openxmlformats.org/officeDocument/2006/relationships/image"/><Relationship Id="rId14" Target="../media/image14.svg" Type="http://schemas.openxmlformats.org/officeDocument/2006/relationships/image"/><Relationship Id="rId15" Target="../media/image15.png" Type="http://schemas.openxmlformats.org/officeDocument/2006/relationships/image"/><Relationship Id="rId16" Target="../media/image16.png" Type="http://schemas.openxmlformats.org/officeDocument/2006/relationships/image"/><Relationship Id="rId17" Target="../media/image17.svg" Type="http://schemas.openxmlformats.org/officeDocument/2006/relationships/image"/><Relationship Id="rId2" Target="../notesSlides/notesSlide2.xml" Type="http://schemas.openxmlformats.org/officeDocument/2006/relationships/notesSlide"/><Relationship Id="rId3" Target="../media/image3.pn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6.png" Type="http://schemas.openxmlformats.org/officeDocument/2006/relationships/image"/><Relationship Id="rId7" Target="../media/image7.png" Type="http://schemas.openxmlformats.org/officeDocument/2006/relationships/image"/><Relationship Id="rId8" Target="../media/image8.svg" Type="http://schemas.openxmlformats.org/officeDocument/2006/relationships/image"/><Relationship Id="rId9" Target="../media/image9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8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9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20.png" Type="http://schemas.openxmlformats.org/officeDocument/2006/relationships/image"/><Relationship Id="rId4" Target="../media/image2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2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23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24.png" Type="http://schemas.openxmlformats.org/officeDocument/2006/relationships/image"/><Relationship Id="rId4" Target="../media/image25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26.png" Type="http://schemas.openxmlformats.org/officeDocument/2006/relationships/image"/><Relationship Id="rId4" Target="../media/image27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C7E0E7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AF9F5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049015" y="9686925"/>
            <a:ext cx="2153260" cy="514350"/>
            <a:chOff x="0" y="0"/>
            <a:chExt cx="2871013" cy="685800"/>
          </a:xfrm>
        </p:grpSpPr>
        <p:sp>
          <p:nvSpPr>
            <p:cNvPr name="Freeform 7" id="7" descr="preencoded.png">
              <a:hlinkClick r:id="rId3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870962" cy="685800"/>
            </a:xfrm>
            <a:custGeom>
              <a:avLst/>
              <a:gdLst/>
              <a:ahLst/>
              <a:cxnLst/>
              <a:rect r="r" b="b" t="t" l="l"/>
              <a:pathLst>
                <a:path h="685800" w="2870962">
                  <a:moveTo>
                    <a:pt x="0" y="0"/>
                  </a:moveTo>
                  <a:lnTo>
                    <a:pt x="2870962" y="0"/>
                  </a:lnTo>
                  <a:lnTo>
                    <a:pt x="2870962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087100" y="0"/>
            <a:ext cx="7200900" cy="10287000"/>
            <a:chOff x="0" y="0"/>
            <a:chExt cx="9601200" cy="13716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6012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601200">
                  <a:moveTo>
                    <a:pt x="0" y="0"/>
                  </a:moveTo>
                  <a:lnTo>
                    <a:pt x="9601200" y="0"/>
                  </a:lnTo>
                  <a:lnTo>
                    <a:pt x="96012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9EDF2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2886582" y="1198807"/>
            <a:ext cx="5259591" cy="7889377"/>
            <a:chOff x="0" y="0"/>
            <a:chExt cx="7012788" cy="10519169"/>
          </a:xfrm>
        </p:grpSpPr>
        <p:sp>
          <p:nvSpPr>
            <p:cNvPr name="Freeform 11" id="11" descr="preencoded.png"/>
            <p:cNvSpPr/>
            <p:nvPr/>
          </p:nvSpPr>
          <p:spPr>
            <a:xfrm flipH="false" flipV="false" rot="0">
              <a:off x="0" y="0"/>
              <a:ext cx="7012813" cy="10519156"/>
            </a:xfrm>
            <a:custGeom>
              <a:avLst/>
              <a:gdLst/>
              <a:ahLst/>
              <a:cxnLst/>
              <a:rect r="r" b="b" t="t" l="l"/>
              <a:pathLst>
                <a:path h="10519156" w="7012813">
                  <a:moveTo>
                    <a:pt x="0" y="0"/>
                  </a:moveTo>
                  <a:lnTo>
                    <a:pt x="7012813" y="0"/>
                  </a:lnTo>
                  <a:lnTo>
                    <a:pt x="7012813" y="10519156"/>
                  </a:lnTo>
                  <a:lnTo>
                    <a:pt x="0" y="105191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992238" y="3360534"/>
            <a:ext cx="9445523" cy="1829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>
                <a:solidFill>
                  <a:srgbClr val="2E3C4E"/>
                </a:solidFill>
                <a:latin typeface="Arimo"/>
                <a:ea typeface="Arimo"/>
                <a:cs typeface="Arimo"/>
                <a:sym typeface="Arimo"/>
              </a:rPr>
              <a:t>Automobile Insurance Analysis Report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92238" y="5538635"/>
            <a:ext cx="9445523" cy="5014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187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Complaint &amp; Premium Analysis using </a:t>
            </a:r>
            <a:r>
              <a:rPr lang="en-US" sz="2187" b="true">
                <a:solidFill>
                  <a:srgbClr val="384653"/>
                </a:solidFill>
                <a:latin typeface="Roboto Bold"/>
                <a:ea typeface="Roboto Bold"/>
                <a:cs typeface="Roboto Bold"/>
                <a:sym typeface="Roboto Bold"/>
              </a:rPr>
              <a:t>Power BI, Tableau &amp; Python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992238" y="6358976"/>
            <a:ext cx="4071195" cy="510178"/>
            <a:chOff x="0" y="0"/>
            <a:chExt cx="5428259" cy="68023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428234" cy="680212"/>
            </a:xfrm>
            <a:custGeom>
              <a:avLst/>
              <a:gdLst/>
              <a:ahLst/>
              <a:cxnLst/>
              <a:rect r="r" b="b" t="t" l="l"/>
              <a:pathLst>
                <a:path h="680212" w="5428234">
                  <a:moveTo>
                    <a:pt x="0" y="127000"/>
                  </a:moveTo>
                  <a:cubicBezTo>
                    <a:pt x="0" y="56896"/>
                    <a:pt x="56896" y="0"/>
                    <a:pt x="127000" y="0"/>
                  </a:cubicBezTo>
                  <a:lnTo>
                    <a:pt x="5301234" y="0"/>
                  </a:lnTo>
                  <a:cubicBezTo>
                    <a:pt x="5371338" y="0"/>
                    <a:pt x="5428234" y="56896"/>
                    <a:pt x="5428234" y="127000"/>
                  </a:cubicBezTo>
                  <a:lnTo>
                    <a:pt x="5428234" y="553212"/>
                  </a:lnTo>
                  <a:cubicBezTo>
                    <a:pt x="5428234" y="623316"/>
                    <a:pt x="5371338" y="680212"/>
                    <a:pt x="5301234" y="680212"/>
                  </a:cubicBezTo>
                  <a:lnTo>
                    <a:pt x="127000" y="680212"/>
                  </a:lnTo>
                  <a:cubicBezTo>
                    <a:pt x="56896" y="680212"/>
                    <a:pt x="0" y="623316"/>
                    <a:pt x="0" y="553212"/>
                  </a:cubicBezTo>
                  <a:close/>
                </a:path>
              </a:pathLst>
            </a:custGeom>
            <a:solidFill>
              <a:srgbClr val="D9EDF2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162345" y="6386808"/>
            <a:ext cx="3730971" cy="3973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750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NEW YORK STATE INSURANCE DATA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C7E0E7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AF9F5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1247032"/>
            <a:ext cx="7088238" cy="943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>
                <a:solidFill>
                  <a:srgbClr val="2E3C4E"/>
                </a:solidFill>
                <a:latin typeface="Arimo"/>
                <a:ea typeface="Arimo"/>
                <a:cs typeface="Arimo"/>
                <a:sym typeface="Arimo"/>
              </a:rPr>
              <a:t>Project Objective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87476" y="2752430"/>
            <a:ext cx="5254971" cy="3193104"/>
            <a:chOff x="0" y="0"/>
            <a:chExt cx="7006628" cy="425747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6350" y="6350"/>
              <a:ext cx="6993890" cy="4244721"/>
            </a:xfrm>
            <a:custGeom>
              <a:avLst/>
              <a:gdLst/>
              <a:ahLst/>
              <a:cxnLst/>
              <a:rect r="r" b="b" t="t" l="l"/>
              <a:pathLst>
                <a:path h="4244721" w="6993890">
                  <a:moveTo>
                    <a:pt x="0" y="158750"/>
                  </a:moveTo>
                  <a:cubicBezTo>
                    <a:pt x="0" y="71120"/>
                    <a:pt x="71120" y="0"/>
                    <a:pt x="159004" y="0"/>
                  </a:cubicBezTo>
                  <a:lnTo>
                    <a:pt x="6834886" y="0"/>
                  </a:lnTo>
                  <a:cubicBezTo>
                    <a:pt x="6922770" y="0"/>
                    <a:pt x="6993890" y="71120"/>
                    <a:pt x="6993890" y="158750"/>
                  </a:cubicBezTo>
                  <a:lnTo>
                    <a:pt x="6993890" y="4085971"/>
                  </a:lnTo>
                  <a:cubicBezTo>
                    <a:pt x="6993890" y="4173728"/>
                    <a:pt x="6922770" y="4244721"/>
                    <a:pt x="6834886" y="4244721"/>
                  </a:cubicBezTo>
                  <a:lnTo>
                    <a:pt x="159004" y="4244721"/>
                  </a:lnTo>
                  <a:cubicBezTo>
                    <a:pt x="71120" y="4244721"/>
                    <a:pt x="0" y="4173728"/>
                    <a:pt x="0" y="4085971"/>
                  </a:cubicBezTo>
                  <a:close/>
                </a:path>
              </a:pathLst>
            </a:custGeom>
            <a:solidFill>
              <a:srgbClr val="D9EDF2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006590" cy="4257421"/>
            </a:xfrm>
            <a:custGeom>
              <a:avLst/>
              <a:gdLst/>
              <a:ahLst/>
              <a:cxnLst/>
              <a:rect r="r" b="b" t="t" l="l"/>
              <a:pathLst>
                <a:path h="4257421" w="7006590">
                  <a:moveTo>
                    <a:pt x="0" y="165100"/>
                  </a:moveTo>
                  <a:cubicBezTo>
                    <a:pt x="0" y="73914"/>
                    <a:pt x="74041" y="0"/>
                    <a:pt x="165354" y="0"/>
                  </a:cubicBezTo>
                  <a:lnTo>
                    <a:pt x="6841236" y="0"/>
                  </a:lnTo>
                  <a:lnTo>
                    <a:pt x="6841236" y="6350"/>
                  </a:lnTo>
                  <a:lnTo>
                    <a:pt x="6841236" y="0"/>
                  </a:lnTo>
                  <a:cubicBezTo>
                    <a:pt x="6932549" y="0"/>
                    <a:pt x="7006590" y="73914"/>
                    <a:pt x="7006590" y="165100"/>
                  </a:cubicBezTo>
                  <a:lnTo>
                    <a:pt x="7000240" y="165100"/>
                  </a:lnTo>
                  <a:lnTo>
                    <a:pt x="7006590" y="165100"/>
                  </a:lnTo>
                  <a:lnTo>
                    <a:pt x="7006590" y="4092321"/>
                  </a:lnTo>
                  <a:lnTo>
                    <a:pt x="7000240" y="4092321"/>
                  </a:lnTo>
                  <a:lnTo>
                    <a:pt x="7006590" y="4092321"/>
                  </a:lnTo>
                  <a:cubicBezTo>
                    <a:pt x="7006590" y="4183507"/>
                    <a:pt x="6932549" y="4257421"/>
                    <a:pt x="6841236" y="4257421"/>
                  </a:cubicBezTo>
                  <a:lnTo>
                    <a:pt x="6841236" y="4251071"/>
                  </a:lnTo>
                  <a:lnTo>
                    <a:pt x="6841236" y="4257421"/>
                  </a:lnTo>
                  <a:lnTo>
                    <a:pt x="165354" y="4257421"/>
                  </a:lnTo>
                  <a:lnTo>
                    <a:pt x="165354" y="4251071"/>
                  </a:lnTo>
                  <a:lnTo>
                    <a:pt x="165354" y="4257421"/>
                  </a:lnTo>
                  <a:cubicBezTo>
                    <a:pt x="74041" y="4257421"/>
                    <a:pt x="0" y="4183507"/>
                    <a:pt x="0" y="4092321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4092321"/>
                  </a:lnTo>
                  <a:lnTo>
                    <a:pt x="6350" y="4092321"/>
                  </a:lnTo>
                  <a:lnTo>
                    <a:pt x="12700" y="4092321"/>
                  </a:lnTo>
                  <a:cubicBezTo>
                    <a:pt x="12700" y="4176522"/>
                    <a:pt x="81026" y="4244721"/>
                    <a:pt x="165354" y="4244721"/>
                  </a:cubicBezTo>
                  <a:lnTo>
                    <a:pt x="6841236" y="4244721"/>
                  </a:lnTo>
                  <a:cubicBezTo>
                    <a:pt x="6925564" y="4244721"/>
                    <a:pt x="6993890" y="4176522"/>
                    <a:pt x="6993890" y="4092321"/>
                  </a:cubicBezTo>
                  <a:lnTo>
                    <a:pt x="6993890" y="165100"/>
                  </a:lnTo>
                  <a:cubicBezTo>
                    <a:pt x="6993890" y="80899"/>
                    <a:pt x="6925564" y="12700"/>
                    <a:pt x="6841236" y="12700"/>
                  </a:cubicBezTo>
                  <a:lnTo>
                    <a:pt x="165354" y="12700"/>
                  </a:lnTo>
                  <a:lnTo>
                    <a:pt x="165354" y="6350"/>
                  </a:lnTo>
                  <a:lnTo>
                    <a:pt x="165354" y="12700"/>
                  </a:lnTo>
                  <a:cubicBezTo>
                    <a:pt x="81026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BFD3D8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285284" y="3050229"/>
            <a:ext cx="850554" cy="850554"/>
            <a:chOff x="0" y="0"/>
            <a:chExt cx="1134072" cy="1134072"/>
          </a:xfrm>
        </p:grpSpPr>
        <p:sp>
          <p:nvSpPr>
            <p:cNvPr name="Freeform 11" id="11" descr="preencoded.png"/>
            <p:cNvSpPr/>
            <p:nvPr/>
          </p:nvSpPr>
          <p:spPr>
            <a:xfrm flipH="false" flipV="false" rot="0">
              <a:off x="0" y="0"/>
              <a:ext cx="1134110" cy="1134110"/>
            </a:xfrm>
            <a:custGeom>
              <a:avLst/>
              <a:gdLst/>
              <a:ahLst/>
              <a:cxnLst/>
              <a:rect r="r" b="b" t="t" l="l"/>
              <a:pathLst>
                <a:path h="1134110" w="1134110">
                  <a:moveTo>
                    <a:pt x="0" y="0"/>
                  </a:moveTo>
                  <a:lnTo>
                    <a:pt x="1134110" y="0"/>
                  </a:lnTo>
                  <a:lnTo>
                    <a:pt x="1134110" y="1134110"/>
                  </a:lnTo>
                  <a:lnTo>
                    <a:pt x="0" y="1134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3" b="3"/>
              </a:stretch>
            </a:blipFill>
          </p:spPr>
        </p:sp>
      </p:grpSp>
      <p:sp>
        <p:nvSpPr>
          <p:cNvPr name="Freeform 12" id="12" descr="preencoded.png"/>
          <p:cNvSpPr/>
          <p:nvPr/>
        </p:nvSpPr>
        <p:spPr>
          <a:xfrm flipH="false" flipV="false" rot="0">
            <a:off x="1519238" y="3284039"/>
            <a:ext cx="382638" cy="382638"/>
          </a:xfrm>
          <a:custGeom>
            <a:avLst/>
            <a:gdLst/>
            <a:ahLst/>
            <a:cxnLst/>
            <a:rect r="r" b="b" t="t" l="l"/>
            <a:pathLst>
              <a:path h="382638" w="382638">
                <a:moveTo>
                  <a:pt x="0" y="0"/>
                </a:moveTo>
                <a:lnTo>
                  <a:pt x="382638" y="0"/>
                </a:lnTo>
                <a:lnTo>
                  <a:pt x="382638" y="382638"/>
                </a:lnTo>
                <a:lnTo>
                  <a:pt x="0" y="3826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285284" y="4146204"/>
            <a:ext cx="3544043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384653"/>
                </a:solidFill>
                <a:latin typeface="Arimo"/>
                <a:ea typeface="Arimo"/>
                <a:cs typeface="Arimo"/>
                <a:sym typeface="Arimo"/>
              </a:rPr>
              <a:t>Complaint Patterns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85284" y="4721123"/>
            <a:ext cx="4659363" cy="9266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187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Analyze complaint patterns across insurance companies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516443" y="2752430"/>
            <a:ext cx="5254971" cy="3193104"/>
            <a:chOff x="0" y="0"/>
            <a:chExt cx="7006628" cy="425747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6350" y="6350"/>
              <a:ext cx="6993890" cy="4244721"/>
            </a:xfrm>
            <a:custGeom>
              <a:avLst/>
              <a:gdLst/>
              <a:ahLst/>
              <a:cxnLst/>
              <a:rect r="r" b="b" t="t" l="l"/>
              <a:pathLst>
                <a:path h="4244721" w="6993890">
                  <a:moveTo>
                    <a:pt x="0" y="158750"/>
                  </a:moveTo>
                  <a:cubicBezTo>
                    <a:pt x="0" y="71120"/>
                    <a:pt x="71120" y="0"/>
                    <a:pt x="159004" y="0"/>
                  </a:cubicBezTo>
                  <a:lnTo>
                    <a:pt x="6834886" y="0"/>
                  </a:lnTo>
                  <a:cubicBezTo>
                    <a:pt x="6922770" y="0"/>
                    <a:pt x="6993890" y="71120"/>
                    <a:pt x="6993890" y="158750"/>
                  </a:cubicBezTo>
                  <a:lnTo>
                    <a:pt x="6993890" y="4085971"/>
                  </a:lnTo>
                  <a:cubicBezTo>
                    <a:pt x="6993890" y="4173728"/>
                    <a:pt x="6922770" y="4244721"/>
                    <a:pt x="6834886" y="4244721"/>
                  </a:cubicBezTo>
                  <a:lnTo>
                    <a:pt x="159004" y="4244721"/>
                  </a:lnTo>
                  <a:cubicBezTo>
                    <a:pt x="71120" y="4244721"/>
                    <a:pt x="0" y="4173728"/>
                    <a:pt x="0" y="4085971"/>
                  </a:cubicBezTo>
                  <a:close/>
                </a:path>
              </a:pathLst>
            </a:custGeom>
            <a:solidFill>
              <a:srgbClr val="D9EDF2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006590" cy="4257421"/>
            </a:xfrm>
            <a:custGeom>
              <a:avLst/>
              <a:gdLst/>
              <a:ahLst/>
              <a:cxnLst/>
              <a:rect r="r" b="b" t="t" l="l"/>
              <a:pathLst>
                <a:path h="4257421" w="7006590">
                  <a:moveTo>
                    <a:pt x="0" y="165100"/>
                  </a:moveTo>
                  <a:cubicBezTo>
                    <a:pt x="0" y="73914"/>
                    <a:pt x="74041" y="0"/>
                    <a:pt x="165354" y="0"/>
                  </a:cubicBezTo>
                  <a:lnTo>
                    <a:pt x="6841236" y="0"/>
                  </a:lnTo>
                  <a:lnTo>
                    <a:pt x="6841236" y="6350"/>
                  </a:lnTo>
                  <a:lnTo>
                    <a:pt x="6841236" y="0"/>
                  </a:lnTo>
                  <a:cubicBezTo>
                    <a:pt x="6932549" y="0"/>
                    <a:pt x="7006590" y="73914"/>
                    <a:pt x="7006590" y="165100"/>
                  </a:cubicBezTo>
                  <a:lnTo>
                    <a:pt x="7000240" y="165100"/>
                  </a:lnTo>
                  <a:lnTo>
                    <a:pt x="7006590" y="165100"/>
                  </a:lnTo>
                  <a:lnTo>
                    <a:pt x="7006590" y="4092321"/>
                  </a:lnTo>
                  <a:lnTo>
                    <a:pt x="7000240" y="4092321"/>
                  </a:lnTo>
                  <a:lnTo>
                    <a:pt x="7006590" y="4092321"/>
                  </a:lnTo>
                  <a:cubicBezTo>
                    <a:pt x="7006590" y="4183507"/>
                    <a:pt x="6932549" y="4257421"/>
                    <a:pt x="6841236" y="4257421"/>
                  </a:cubicBezTo>
                  <a:lnTo>
                    <a:pt x="6841236" y="4251071"/>
                  </a:lnTo>
                  <a:lnTo>
                    <a:pt x="6841236" y="4257421"/>
                  </a:lnTo>
                  <a:lnTo>
                    <a:pt x="165354" y="4257421"/>
                  </a:lnTo>
                  <a:lnTo>
                    <a:pt x="165354" y="4251071"/>
                  </a:lnTo>
                  <a:lnTo>
                    <a:pt x="165354" y="4257421"/>
                  </a:lnTo>
                  <a:cubicBezTo>
                    <a:pt x="74041" y="4257421"/>
                    <a:pt x="0" y="4183507"/>
                    <a:pt x="0" y="4092321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4092321"/>
                  </a:lnTo>
                  <a:lnTo>
                    <a:pt x="6350" y="4092321"/>
                  </a:lnTo>
                  <a:lnTo>
                    <a:pt x="12700" y="4092321"/>
                  </a:lnTo>
                  <a:cubicBezTo>
                    <a:pt x="12700" y="4176522"/>
                    <a:pt x="81026" y="4244721"/>
                    <a:pt x="165354" y="4244721"/>
                  </a:cubicBezTo>
                  <a:lnTo>
                    <a:pt x="6841236" y="4244721"/>
                  </a:lnTo>
                  <a:cubicBezTo>
                    <a:pt x="6925564" y="4244721"/>
                    <a:pt x="6993890" y="4176522"/>
                    <a:pt x="6993890" y="4092321"/>
                  </a:cubicBezTo>
                  <a:lnTo>
                    <a:pt x="6993890" y="165100"/>
                  </a:lnTo>
                  <a:cubicBezTo>
                    <a:pt x="6993890" y="80899"/>
                    <a:pt x="6925564" y="12700"/>
                    <a:pt x="6841236" y="12700"/>
                  </a:cubicBezTo>
                  <a:lnTo>
                    <a:pt x="165354" y="12700"/>
                  </a:lnTo>
                  <a:lnTo>
                    <a:pt x="165354" y="6350"/>
                  </a:lnTo>
                  <a:lnTo>
                    <a:pt x="165354" y="12700"/>
                  </a:lnTo>
                  <a:cubicBezTo>
                    <a:pt x="81026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BFD3D8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6814242" y="3050229"/>
            <a:ext cx="850554" cy="850554"/>
            <a:chOff x="0" y="0"/>
            <a:chExt cx="1134072" cy="1134072"/>
          </a:xfrm>
        </p:grpSpPr>
        <p:sp>
          <p:nvSpPr>
            <p:cNvPr name="Freeform 19" id="19" descr="preencoded.png"/>
            <p:cNvSpPr/>
            <p:nvPr/>
          </p:nvSpPr>
          <p:spPr>
            <a:xfrm flipH="false" flipV="false" rot="0">
              <a:off x="0" y="0"/>
              <a:ext cx="1134110" cy="1134110"/>
            </a:xfrm>
            <a:custGeom>
              <a:avLst/>
              <a:gdLst/>
              <a:ahLst/>
              <a:cxnLst/>
              <a:rect r="r" b="b" t="t" l="l"/>
              <a:pathLst>
                <a:path h="1134110" w="1134110">
                  <a:moveTo>
                    <a:pt x="0" y="0"/>
                  </a:moveTo>
                  <a:lnTo>
                    <a:pt x="1134110" y="0"/>
                  </a:lnTo>
                  <a:lnTo>
                    <a:pt x="1134110" y="1134110"/>
                  </a:lnTo>
                  <a:lnTo>
                    <a:pt x="0" y="1134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3" b="3"/>
              </a:stretch>
            </a:blipFill>
          </p:spPr>
        </p:sp>
      </p:grpSp>
      <p:sp>
        <p:nvSpPr>
          <p:cNvPr name="Freeform 20" id="20" descr="preencoded.png"/>
          <p:cNvSpPr/>
          <p:nvPr/>
        </p:nvSpPr>
        <p:spPr>
          <a:xfrm flipH="false" flipV="false" rot="0">
            <a:off x="7048205" y="3284039"/>
            <a:ext cx="382638" cy="382638"/>
          </a:xfrm>
          <a:custGeom>
            <a:avLst/>
            <a:gdLst/>
            <a:ahLst/>
            <a:cxnLst/>
            <a:rect r="r" b="b" t="t" l="l"/>
            <a:pathLst>
              <a:path h="382638" w="382638">
                <a:moveTo>
                  <a:pt x="0" y="0"/>
                </a:moveTo>
                <a:lnTo>
                  <a:pt x="382638" y="0"/>
                </a:lnTo>
                <a:lnTo>
                  <a:pt x="382638" y="382638"/>
                </a:lnTo>
                <a:lnTo>
                  <a:pt x="0" y="38263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10975" t="0" r="-10975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6814242" y="4146204"/>
            <a:ext cx="3544043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384653"/>
                </a:solidFill>
                <a:latin typeface="Arimo"/>
                <a:ea typeface="Arimo"/>
                <a:cs typeface="Arimo"/>
                <a:sym typeface="Arimo"/>
              </a:rPr>
              <a:t>Trend Analysis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814242" y="4721123"/>
            <a:ext cx="4659363" cy="5014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187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Study complaint trends over time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2045401" y="2752430"/>
            <a:ext cx="5254971" cy="3193104"/>
            <a:chOff x="0" y="0"/>
            <a:chExt cx="7006628" cy="425747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6350" y="6350"/>
              <a:ext cx="6993890" cy="4244721"/>
            </a:xfrm>
            <a:custGeom>
              <a:avLst/>
              <a:gdLst/>
              <a:ahLst/>
              <a:cxnLst/>
              <a:rect r="r" b="b" t="t" l="l"/>
              <a:pathLst>
                <a:path h="4244721" w="6993890">
                  <a:moveTo>
                    <a:pt x="0" y="158750"/>
                  </a:moveTo>
                  <a:cubicBezTo>
                    <a:pt x="0" y="71120"/>
                    <a:pt x="71120" y="0"/>
                    <a:pt x="159004" y="0"/>
                  </a:cubicBezTo>
                  <a:lnTo>
                    <a:pt x="6834886" y="0"/>
                  </a:lnTo>
                  <a:cubicBezTo>
                    <a:pt x="6922770" y="0"/>
                    <a:pt x="6993890" y="71120"/>
                    <a:pt x="6993890" y="158750"/>
                  </a:cubicBezTo>
                  <a:lnTo>
                    <a:pt x="6993890" y="4085971"/>
                  </a:lnTo>
                  <a:cubicBezTo>
                    <a:pt x="6993890" y="4173728"/>
                    <a:pt x="6922770" y="4244721"/>
                    <a:pt x="6834886" y="4244721"/>
                  </a:cubicBezTo>
                  <a:lnTo>
                    <a:pt x="159004" y="4244721"/>
                  </a:lnTo>
                  <a:cubicBezTo>
                    <a:pt x="71120" y="4244721"/>
                    <a:pt x="0" y="4173728"/>
                    <a:pt x="0" y="4085971"/>
                  </a:cubicBezTo>
                  <a:close/>
                </a:path>
              </a:pathLst>
            </a:custGeom>
            <a:solidFill>
              <a:srgbClr val="D9EDF2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006590" cy="4257421"/>
            </a:xfrm>
            <a:custGeom>
              <a:avLst/>
              <a:gdLst/>
              <a:ahLst/>
              <a:cxnLst/>
              <a:rect r="r" b="b" t="t" l="l"/>
              <a:pathLst>
                <a:path h="4257421" w="7006590">
                  <a:moveTo>
                    <a:pt x="0" y="165100"/>
                  </a:moveTo>
                  <a:cubicBezTo>
                    <a:pt x="0" y="73914"/>
                    <a:pt x="74041" y="0"/>
                    <a:pt x="165354" y="0"/>
                  </a:cubicBezTo>
                  <a:lnTo>
                    <a:pt x="6841236" y="0"/>
                  </a:lnTo>
                  <a:lnTo>
                    <a:pt x="6841236" y="6350"/>
                  </a:lnTo>
                  <a:lnTo>
                    <a:pt x="6841236" y="0"/>
                  </a:lnTo>
                  <a:cubicBezTo>
                    <a:pt x="6932549" y="0"/>
                    <a:pt x="7006590" y="73914"/>
                    <a:pt x="7006590" y="165100"/>
                  </a:cubicBezTo>
                  <a:lnTo>
                    <a:pt x="7000240" y="165100"/>
                  </a:lnTo>
                  <a:lnTo>
                    <a:pt x="7006590" y="165100"/>
                  </a:lnTo>
                  <a:lnTo>
                    <a:pt x="7006590" y="4092321"/>
                  </a:lnTo>
                  <a:lnTo>
                    <a:pt x="7000240" y="4092321"/>
                  </a:lnTo>
                  <a:lnTo>
                    <a:pt x="7006590" y="4092321"/>
                  </a:lnTo>
                  <a:cubicBezTo>
                    <a:pt x="7006590" y="4183507"/>
                    <a:pt x="6932549" y="4257421"/>
                    <a:pt x="6841236" y="4257421"/>
                  </a:cubicBezTo>
                  <a:lnTo>
                    <a:pt x="6841236" y="4251071"/>
                  </a:lnTo>
                  <a:lnTo>
                    <a:pt x="6841236" y="4257421"/>
                  </a:lnTo>
                  <a:lnTo>
                    <a:pt x="165354" y="4257421"/>
                  </a:lnTo>
                  <a:lnTo>
                    <a:pt x="165354" y="4251071"/>
                  </a:lnTo>
                  <a:lnTo>
                    <a:pt x="165354" y="4257421"/>
                  </a:lnTo>
                  <a:cubicBezTo>
                    <a:pt x="74041" y="4257421"/>
                    <a:pt x="0" y="4183507"/>
                    <a:pt x="0" y="4092321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4092321"/>
                  </a:lnTo>
                  <a:lnTo>
                    <a:pt x="6350" y="4092321"/>
                  </a:lnTo>
                  <a:lnTo>
                    <a:pt x="12700" y="4092321"/>
                  </a:lnTo>
                  <a:cubicBezTo>
                    <a:pt x="12700" y="4176522"/>
                    <a:pt x="81026" y="4244721"/>
                    <a:pt x="165354" y="4244721"/>
                  </a:cubicBezTo>
                  <a:lnTo>
                    <a:pt x="6841236" y="4244721"/>
                  </a:lnTo>
                  <a:cubicBezTo>
                    <a:pt x="6925564" y="4244721"/>
                    <a:pt x="6993890" y="4176522"/>
                    <a:pt x="6993890" y="4092321"/>
                  </a:cubicBezTo>
                  <a:lnTo>
                    <a:pt x="6993890" y="165100"/>
                  </a:lnTo>
                  <a:cubicBezTo>
                    <a:pt x="6993890" y="80899"/>
                    <a:pt x="6925564" y="12700"/>
                    <a:pt x="6841236" y="12700"/>
                  </a:cubicBezTo>
                  <a:lnTo>
                    <a:pt x="165354" y="12700"/>
                  </a:lnTo>
                  <a:lnTo>
                    <a:pt x="165354" y="6350"/>
                  </a:lnTo>
                  <a:lnTo>
                    <a:pt x="165354" y="12700"/>
                  </a:lnTo>
                  <a:cubicBezTo>
                    <a:pt x="81026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BFD3D8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2343209" y="3050229"/>
            <a:ext cx="850554" cy="850554"/>
            <a:chOff x="0" y="0"/>
            <a:chExt cx="1134072" cy="1134072"/>
          </a:xfrm>
        </p:grpSpPr>
        <p:sp>
          <p:nvSpPr>
            <p:cNvPr name="Freeform 27" id="27" descr="preencoded.png"/>
            <p:cNvSpPr/>
            <p:nvPr/>
          </p:nvSpPr>
          <p:spPr>
            <a:xfrm flipH="false" flipV="false" rot="0">
              <a:off x="0" y="0"/>
              <a:ext cx="1134110" cy="1134110"/>
            </a:xfrm>
            <a:custGeom>
              <a:avLst/>
              <a:gdLst/>
              <a:ahLst/>
              <a:cxnLst/>
              <a:rect r="r" b="b" t="t" l="l"/>
              <a:pathLst>
                <a:path h="1134110" w="1134110">
                  <a:moveTo>
                    <a:pt x="0" y="0"/>
                  </a:moveTo>
                  <a:lnTo>
                    <a:pt x="1134110" y="0"/>
                  </a:lnTo>
                  <a:lnTo>
                    <a:pt x="1134110" y="1134110"/>
                  </a:lnTo>
                  <a:lnTo>
                    <a:pt x="0" y="1134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3" b="3"/>
              </a:stretch>
            </a:blipFill>
          </p:spPr>
        </p:sp>
      </p:grpSp>
      <p:sp>
        <p:nvSpPr>
          <p:cNvPr name="Freeform 28" id="28" descr="preencoded.png"/>
          <p:cNvSpPr/>
          <p:nvPr/>
        </p:nvSpPr>
        <p:spPr>
          <a:xfrm flipH="false" flipV="false" rot="0">
            <a:off x="12577172" y="3284039"/>
            <a:ext cx="382638" cy="382638"/>
          </a:xfrm>
          <a:custGeom>
            <a:avLst/>
            <a:gdLst/>
            <a:ahLst/>
            <a:cxnLst/>
            <a:rect r="r" b="b" t="t" l="l"/>
            <a:pathLst>
              <a:path h="382638" w="382638">
                <a:moveTo>
                  <a:pt x="0" y="0"/>
                </a:moveTo>
                <a:lnTo>
                  <a:pt x="382638" y="0"/>
                </a:lnTo>
                <a:lnTo>
                  <a:pt x="382638" y="382638"/>
                </a:lnTo>
                <a:lnTo>
                  <a:pt x="0" y="38263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-50000" r="0" b="-5000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12343209" y="4146204"/>
            <a:ext cx="3544043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384653"/>
                </a:solidFill>
                <a:latin typeface="Arimo"/>
                <a:ea typeface="Arimo"/>
                <a:cs typeface="Arimo"/>
                <a:sym typeface="Arimo"/>
              </a:rPr>
              <a:t>Premium Impact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343209" y="4721123"/>
            <a:ext cx="4659363" cy="9266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187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Evaluate premium growth and its impact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987476" y="6219530"/>
            <a:ext cx="8019459" cy="2767908"/>
            <a:chOff x="0" y="0"/>
            <a:chExt cx="10692613" cy="3690544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6350" y="6350"/>
              <a:ext cx="10679938" cy="3677793"/>
            </a:xfrm>
            <a:custGeom>
              <a:avLst/>
              <a:gdLst/>
              <a:ahLst/>
              <a:cxnLst/>
              <a:rect r="r" b="b" t="t" l="l"/>
              <a:pathLst>
                <a:path h="3677793" w="10679938">
                  <a:moveTo>
                    <a:pt x="0" y="158750"/>
                  </a:moveTo>
                  <a:cubicBezTo>
                    <a:pt x="0" y="71120"/>
                    <a:pt x="71247" y="0"/>
                    <a:pt x="159131" y="0"/>
                  </a:cubicBezTo>
                  <a:lnTo>
                    <a:pt x="10520807" y="0"/>
                  </a:lnTo>
                  <a:cubicBezTo>
                    <a:pt x="10608690" y="0"/>
                    <a:pt x="10679938" y="71120"/>
                    <a:pt x="10679938" y="158750"/>
                  </a:cubicBezTo>
                  <a:lnTo>
                    <a:pt x="10679938" y="3519043"/>
                  </a:lnTo>
                  <a:cubicBezTo>
                    <a:pt x="10679938" y="3606673"/>
                    <a:pt x="10608690" y="3677793"/>
                    <a:pt x="10520807" y="3677793"/>
                  </a:cubicBezTo>
                  <a:lnTo>
                    <a:pt x="159131" y="3677793"/>
                  </a:lnTo>
                  <a:cubicBezTo>
                    <a:pt x="71247" y="3677793"/>
                    <a:pt x="0" y="3606800"/>
                    <a:pt x="0" y="3519043"/>
                  </a:cubicBezTo>
                  <a:close/>
                </a:path>
              </a:pathLst>
            </a:custGeom>
            <a:solidFill>
              <a:srgbClr val="D9EDF2"/>
            </a:solid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0692638" cy="3690493"/>
            </a:xfrm>
            <a:custGeom>
              <a:avLst/>
              <a:gdLst/>
              <a:ahLst/>
              <a:cxnLst/>
              <a:rect r="r" b="b" t="t" l="l"/>
              <a:pathLst>
                <a:path h="3690493" w="10692638">
                  <a:moveTo>
                    <a:pt x="0" y="165100"/>
                  </a:moveTo>
                  <a:cubicBezTo>
                    <a:pt x="0" y="73914"/>
                    <a:pt x="74041" y="0"/>
                    <a:pt x="165481" y="0"/>
                  </a:cubicBezTo>
                  <a:lnTo>
                    <a:pt x="10527157" y="0"/>
                  </a:lnTo>
                  <a:lnTo>
                    <a:pt x="10527157" y="6350"/>
                  </a:lnTo>
                  <a:lnTo>
                    <a:pt x="10527157" y="0"/>
                  </a:lnTo>
                  <a:cubicBezTo>
                    <a:pt x="10618597" y="0"/>
                    <a:pt x="10692638" y="73914"/>
                    <a:pt x="10692638" y="165100"/>
                  </a:cubicBezTo>
                  <a:lnTo>
                    <a:pt x="10686288" y="165100"/>
                  </a:lnTo>
                  <a:lnTo>
                    <a:pt x="10692638" y="165100"/>
                  </a:lnTo>
                  <a:lnTo>
                    <a:pt x="10692638" y="3525393"/>
                  </a:lnTo>
                  <a:lnTo>
                    <a:pt x="10686288" y="3525393"/>
                  </a:lnTo>
                  <a:lnTo>
                    <a:pt x="10692638" y="3525393"/>
                  </a:lnTo>
                  <a:cubicBezTo>
                    <a:pt x="10692638" y="3616579"/>
                    <a:pt x="10618597" y="3690493"/>
                    <a:pt x="10527157" y="3690493"/>
                  </a:cubicBezTo>
                  <a:lnTo>
                    <a:pt x="10527157" y="3684143"/>
                  </a:lnTo>
                  <a:lnTo>
                    <a:pt x="10527157" y="3690493"/>
                  </a:lnTo>
                  <a:lnTo>
                    <a:pt x="165481" y="3690493"/>
                  </a:lnTo>
                  <a:lnTo>
                    <a:pt x="165481" y="3684143"/>
                  </a:lnTo>
                  <a:lnTo>
                    <a:pt x="165481" y="3690493"/>
                  </a:lnTo>
                  <a:cubicBezTo>
                    <a:pt x="74041" y="3690493"/>
                    <a:pt x="0" y="3616579"/>
                    <a:pt x="0" y="3525393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3525393"/>
                  </a:lnTo>
                  <a:lnTo>
                    <a:pt x="6350" y="3525393"/>
                  </a:lnTo>
                  <a:lnTo>
                    <a:pt x="12700" y="3525393"/>
                  </a:lnTo>
                  <a:cubicBezTo>
                    <a:pt x="12700" y="3609594"/>
                    <a:pt x="81026" y="3677793"/>
                    <a:pt x="165481" y="3677793"/>
                  </a:cubicBezTo>
                  <a:lnTo>
                    <a:pt x="10527157" y="3677793"/>
                  </a:lnTo>
                  <a:cubicBezTo>
                    <a:pt x="10611612" y="3677793"/>
                    <a:pt x="10679938" y="3609594"/>
                    <a:pt x="10679938" y="3525393"/>
                  </a:cubicBezTo>
                  <a:lnTo>
                    <a:pt x="10679938" y="165100"/>
                  </a:lnTo>
                  <a:cubicBezTo>
                    <a:pt x="10679938" y="80899"/>
                    <a:pt x="10611612" y="12700"/>
                    <a:pt x="10527157" y="12700"/>
                  </a:cubicBezTo>
                  <a:lnTo>
                    <a:pt x="165481" y="12700"/>
                  </a:lnTo>
                  <a:lnTo>
                    <a:pt x="165481" y="6350"/>
                  </a:lnTo>
                  <a:lnTo>
                    <a:pt x="165481" y="12700"/>
                  </a:lnTo>
                  <a:cubicBezTo>
                    <a:pt x="81026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BFD3D8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285284" y="6517329"/>
            <a:ext cx="850554" cy="850554"/>
            <a:chOff x="0" y="0"/>
            <a:chExt cx="1134072" cy="1134072"/>
          </a:xfrm>
        </p:grpSpPr>
        <p:sp>
          <p:nvSpPr>
            <p:cNvPr name="Freeform 35" id="35" descr="preencoded.png"/>
            <p:cNvSpPr/>
            <p:nvPr/>
          </p:nvSpPr>
          <p:spPr>
            <a:xfrm flipH="false" flipV="false" rot="0">
              <a:off x="0" y="0"/>
              <a:ext cx="1134110" cy="1134110"/>
            </a:xfrm>
            <a:custGeom>
              <a:avLst/>
              <a:gdLst/>
              <a:ahLst/>
              <a:cxnLst/>
              <a:rect r="r" b="b" t="t" l="l"/>
              <a:pathLst>
                <a:path h="1134110" w="1134110">
                  <a:moveTo>
                    <a:pt x="0" y="0"/>
                  </a:moveTo>
                  <a:lnTo>
                    <a:pt x="1134110" y="0"/>
                  </a:lnTo>
                  <a:lnTo>
                    <a:pt x="1134110" y="1134110"/>
                  </a:lnTo>
                  <a:lnTo>
                    <a:pt x="0" y="1134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3" b="3"/>
              </a:stretch>
            </a:blipFill>
          </p:spPr>
        </p:sp>
      </p:grpSp>
      <p:sp>
        <p:nvSpPr>
          <p:cNvPr name="Freeform 36" id="36" descr="preencoded.png"/>
          <p:cNvSpPr/>
          <p:nvPr/>
        </p:nvSpPr>
        <p:spPr>
          <a:xfrm flipH="false" flipV="false" rot="0">
            <a:off x="1519238" y="6751139"/>
            <a:ext cx="382638" cy="382638"/>
          </a:xfrm>
          <a:custGeom>
            <a:avLst/>
            <a:gdLst/>
            <a:ahLst/>
            <a:cxnLst/>
            <a:rect r="r" b="b" t="t" l="l"/>
            <a:pathLst>
              <a:path h="382638" w="382638">
                <a:moveTo>
                  <a:pt x="0" y="0"/>
                </a:moveTo>
                <a:lnTo>
                  <a:pt x="382638" y="0"/>
                </a:lnTo>
                <a:lnTo>
                  <a:pt x="382638" y="382638"/>
                </a:lnTo>
                <a:lnTo>
                  <a:pt x="0" y="382638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7" id="37"/>
          <p:cNvSpPr txBox="true"/>
          <p:nvPr/>
        </p:nvSpPr>
        <p:spPr>
          <a:xfrm rot="0">
            <a:off x="1285284" y="7613304"/>
            <a:ext cx="3642722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384653"/>
                </a:solidFill>
                <a:latin typeface="Arimo"/>
                <a:ea typeface="Arimo"/>
                <a:cs typeface="Arimo"/>
                <a:sym typeface="Arimo"/>
              </a:rPr>
              <a:t>Company Comparison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285284" y="8188223"/>
            <a:ext cx="7423842" cy="5014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187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Compare performance of top 5 companies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9280922" y="6219530"/>
            <a:ext cx="8019459" cy="2767908"/>
            <a:chOff x="0" y="0"/>
            <a:chExt cx="10692613" cy="3690544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6350" y="6350"/>
              <a:ext cx="10679938" cy="3677793"/>
            </a:xfrm>
            <a:custGeom>
              <a:avLst/>
              <a:gdLst/>
              <a:ahLst/>
              <a:cxnLst/>
              <a:rect r="r" b="b" t="t" l="l"/>
              <a:pathLst>
                <a:path h="3677793" w="10679938">
                  <a:moveTo>
                    <a:pt x="0" y="158750"/>
                  </a:moveTo>
                  <a:cubicBezTo>
                    <a:pt x="0" y="71120"/>
                    <a:pt x="71247" y="0"/>
                    <a:pt x="159131" y="0"/>
                  </a:cubicBezTo>
                  <a:lnTo>
                    <a:pt x="10520807" y="0"/>
                  </a:lnTo>
                  <a:cubicBezTo>
                    <a:pt x="10608690" y="0"/>
                    <a:pt x="10679938" y="71120"/>
                    <a:pt x="10679938" y="158750"/>
                  </a:cubicBezTo>
                  <a:lnTo>
                    <a:pt x="10679938" y="3519043"/>
                  </a:lnTo>
                  <a:cubicBezTo>
                    <a:pt x="10679938" y="3606673"/>
                    <a:pt x="10608690" y="3677793"/>
                    <a:pt x="10520807" y="3677793"/>
                  </a:cubicBezTo>
                  <a:lnTo>
                    <a:pt x="159131" y="3677793"/>
                  </a:lnTo>
                  <a:cubicBezTo>
                    <a:pt x="71247" y="3677793"/>
                    <a:pt x="0" y="3606800"/>
                    <a:pt x="0" y="3519043"/>
                  </a:cubicBezTo>
                  <a:close/>
                </a:path>
              </a:pathLst>
            </a:custGeom>
            <a:solidFill>
              <a:srgbClr val="D9EDF2"/>
            </a:solidFill>
          </p:spPr>
        </p:sp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0692638" cy="3690493"/>
            </a:xfrm>
            <a:custGeom>
              <a:avLst/>
              <a:gdLst/>
              <a:ahLst/>
              <a:cxnLst/>
              <a:rect r="r" b="b" t="t" l="l"/>
              <a:pathLst>
                <a:path h="3690493" w="10692638">
                  <a:moveTo>
                    <a:pt x="0" y="165100"/>
                  </a:moveTo>
                  <a:cubicBezTo>
                    <a:pt x="0" y="73914"/>
                    <a:pt x="74041" y="0"/>
                    <a:pt x="165481" y="0"/>
                  </a:cubicBezTo>
                  <a:lnTo>
                    <a:pt x="10527157" y="0"/>
                  </a:lnTo>
                  <a:lnTo>
                    <a:pt x="10527157" y="6350"/>
                  </a:lnTo>
                  <a:lnTo>
                    <a:pt x="10527157" y="0"/>
                  </a:lnTo>
                  <a:cubicBezTo>
                    <a:pt x="10618597" y="0"/>
                    <a:pt x="10692638" y="73914"/>
                    <a:pt x="10692638" y="165100"/>
                  </a:cubicBezTo>
                  <a:lnTo>
                    <a:pt x="10686288" y="165100"/>
                  </a:lnTo>
                  <a:lnTo>
                    <a:pt x="10692638" y="165100"/>
                  </a:lnTo>
                  <a:lnTo>
                    <a:pt x="10692638" y="3525393"/>
                  </a:lnTo>
                  <a:lnTo>
                    <a:pt x="10686288" y="3525393"/>
                  </a:lnTo>
                  <a:lnTo>
                    <a:pt x="10692638" y="3525393"/>
                  </a:lnTo>
                  <a:cubicBezTo>
                    <a:pt x="10692638" y="3616579"/>
                    <a:pt x="10618597" y="3690493"/>
                    <a:pt x="10527157" y="3690493"/>
                  </a:cubicBezTo>
                  <a:lnTo>
                    <a:pt x="10527157" y="3684143"/>
                  </a:lnTo>
                  <a:lnTo>
                    <a:pt x="10527157" y="3690493"/>
                  </a:lnTo>
                  <a:lnTo>
                    <a:pt x="165481" y="3690493"/>
                  </a:lnTo>
                  <a:lnTo>
                    <a:pt x="165481" y="3684143"/>
                  </a:lnTo>
                  <a:lnTo>
                    <a:pt x="165481" y="3690493"/>
                  </a:lnTo>
                  <a:cubicBezTo>
                    <a:pt x="74041" y="3690493"/>
                    <a:pt x="0" y="3616579"/>
                    <a:pt x="0" y="3525393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3525393"/>
                  </a:lnTo>
                  <a:lnTo>
                    <a:pt x="6350" y="3525393"/>
                  </a:lnTo>
                  <a:lnTo>
                    <a:pt x="12700" y="3525393"/>
                  </a:lnTo>
                  <a:cubicBezTo>
                    <a:pt x="12700" y="3609594"/>
                    <a:pt x="81026" y="3677793"/>
                    <a:pt x="165481" y="3677793"/>
                  </a:cubicBezTo>
                  <a:lnTo>
                    <a:pt x="10527157" y="3677793"/>
                  </a:lnTo>
                  <a:cubicBezTo>
                    <a:pt x="10611612" y="3677793"/>
                    <a:pt x="10679938" y="3609594"/>
                    <a:pt x="10679938" y="3525393"/>
                  </a:cubicBezTo>
                  <a:lnTo>
                    <a:pt x="10679938" y="165100"/>
                  </a:lnTo>
                  <a:cubicBezTo>
                    <a:pt x="10679938" y="80899"/>
                    <a:pt x="10611612" y="12700"/>
                    <a:pt x="10527157" y="12700"/>
                  </a:cubicBezTo>
                  <a:lnTo>
                    <a:pt x="165481" y="12700"/>
                  </a:lnTo>
                  <a:lnTo>
                    <a:pt x="165481" y="6350"/>
                  </a:lnTo>
                  <a:lnTo>
                    <a:pt x="165481" y="12700"/>
                  </a:lnTo>
                  <a:cubicBezTo>
                    <a:pt x="81026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BFD3D8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9578731" y="6517329"/>
            <a:ext cx="850554" cy="850554"/>
            <a:chOff x="0" y="0"/>
            <a:chExt cx="1134072" cy="1134072"/>
          </a:xfrm>
        </p:grpSpPr>
        <p:sp>
          <p:nvSpPr>
            <p:cNvPr name="Freeform 43" id="43" descr="preencoded.png"/>
            <p:cNvSpPr/>
            <p:nvPr/>
          </p:nvSpPr>
          <p:spPr>
            <a:xfrm flipH="false" flipV="false" rot="0">
              <a:off x="0" y="0"/>
              <a:ext cx="1134110" cy="1134110"/>
            </a:xfrm>
            <a:custGeom>
              <a:avLst/>
              <a:gdLst/>
              <a:ahLst/>
              <a:cxnLst/>
              <a:rect r="r" b="b" t="t" l="l"/>
              <a:pathLst>
                <a:path h="1134110" w="1134110">
                  <a:moveTo>
                    <a:pt x="0" y="0"/>
                  </a:moveTo>
                  <a:lnTo>
                    <a:pt x="1134110" y="0"/>
                  </a:lnTo>
                  <a:lnTo>
                    <a:pt x="1134110" y="1134110"/>
                  </a:lnTo>
                  <a:lnTo>
                    <a:pt x="0" y="1134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0" r="3" b="3"/>
              </a:stretch>
            </a:blipFill>
          </p:spPr>
        </p:sp>
      </p:grpSp>
      <p:sp>
        <p:nvSpPr>
          <p:cNvPr name="Freeform 44" id="44" descr="preencoded.png"/>
          <p:cNvSpPr/>
          <p:nvPr/>
        </p:nvSpPr>
        <p:spPr>
          <a:xfrm flipH="false" flipV="false" rot="0">
            <a:off x="9812684" y="6751139"/>
            <a:ext cx="382638" cy="382638"/>
          </a:xfrm>
          <a:custGeom>
            <a:avLst/>
            <a:gdLst/>
            <a:ahLst/>
            <a:cxnLst/>
            <a:rect r="r" b="b" t="t" l="l"/>
            <a:pathLst>
              <a:path h="382638" w="382638">
                <a:moveTo>
                  <a:pt x="0" y="0"/>
                </a:moveTo>
                <a:lnTo>
                  <a:pt x="382638" y="0"/>
                </a:lnTo>
                <a:lnTo>
                  <a:pt x="382638" y="382638"/>
                </a:lnTo>
                <a:lnTo>
                  <a:pt x="0" y="382638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-19511" r="0" b="-19513"/>
            </a:stretch>
          </a:blipFill>
        </p:spPr>
      </p:sp>
      <p:sp>
        <p:nvSpPr>
          <p:cNvPr name="TextBox 45" id="45"/>
          <p:cNvSpPr txBox="true"/>
          <p:nvPr/>
        </p:nvSpPr>
        <p:spPr>
          <a:xfrm rot="0">
            <a:off x="9578731" y="7613304"/>
            <a:ext cx="3544043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384653"/>
                </a:solidFill>
                <a:latin typeface="Arimo"/>
                <a:ea typeface="Arimo"/>
                <a:cs typeface="Arimo"/>
                <a:sym typeface="Arimo"/>
              </a:rPr>
              <a:t>Actionable Insights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9578731" y="8188223"/>
            <a:ext cx="7423842" cy="5014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187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Provide actionable business insights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C7E0E7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AF9F5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724491"/>
            <a:ext cx="8811520" cy="943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>
                <a:solidFill>
                  <a:srgbClr val="2E3C4E"/>
                </a:solidFill>
                <a:latin typeface="Arimo"/>
                <a:ea typeface="Arimo"/>
                <a:cs typeface="Arimo"/>
                <a:sym typeface="Arimo"/>
              </a:rPr>
              <a:t>Dataset &amp; Data Preparation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38" y="2338235"/>
            <a:ext cx="3544043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2E3C4E"/>
                </a:solidFill>
                <a:latin typeface="Arimo"/>
                <a:ea typeface="Arimo"/>
                <a:cs typeface="Arimo"/>
                <a:sym typeface="Arimo"/>
              </a:rPr>
              <a:t>Key Fields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92238" y="3026569"/>
            <a:ext cx="7805890" cy="2074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312"/>
              </a:lnSpc>
              <a:buFont typeface="Arial"/>
              <a:buChar char="•"/>
            </a:pPr>
            <a:r>
              <a:rPr lang="en-US" sz="2187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Company Name &amp; Filing Year</a:t>
            </a:r>
          </a:p>
          <a:p>
            <a:pPr algn="l" marL="329902" indent="-164951" lvl="1">
              <a:lnSpc>
                <a:spcPts val="3312"/>
              </a:lnSpc>
              <a:buFont typeface="Arial"/>
              <a:buChar char="•"/>
            </a:pPr>
            <a:r>
              <a:rPr lang="en-US" sz="2187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Complaint Ratio &amp; Total Complaints</a:t>
            </a:r>
          </a:p>
          <a:p>
            <a:pPr algn="l" marL="329902" indent="-164951" lvl="1">
              <a:lnSpc>
                <a:spcPts val="3312"/>
              </a:lnSpc>
              <a:buFont typeface="Arial"/>
              <a:buChar char="•"/>
            </a:pPr>
            <a:r>
              <a:rPr lang="en-US" sz="2187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Upheld, Not Upheld &amp; Question of Fact Complaints</a:t>
            </a:r>
          </a:p>
          <a:p>
            <a:pPr algn="l" marL="329902" indent="-164951" lvl="1">
              <a:lnSpc>
                <a:spcPts val="3312"/>
              </a:lnSpc>
              <a:buFont typeface="Arial"/>
              <a:buChar char="•"/>
            </a:pPr>
            <a:r>
              <a:rPr lang="en-US" sz="2187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Premiums Written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499397" y="2338235"/>
            <a:ext cx="3544043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2E3C4E"/>
                </a:solidFill>
                <a:latin typeface="Arimo"/>
                <a:ea typeface="Arimo"/>
                <a:cs typeface="Arimo"/>
                <a:sym typeface="Arimo"/>
              </a:rPr>
              <a:t>Data Pipeline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499397" y="3052467"/>
            <a:ext cx="567033" cy="440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187">
                <a:solidFill>
                  <a:srgbClr val="384653"/>
                </a:solidFill>
                <a:latin typeface="Arimo"/>
                <a:ea typeface="Arimo"/>
                <a:cs typeface="Arimo"/>
                <a:sym typeface="Arimo"/>
              </a:rPr>
              <a:t>01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9499397" y="3581991"/>
            <a:ext cx="7805890" cy="38100"/>
            <a:chOff x="0" y="0"/>
            <a:chExt cx="10407853" cy="50800"/>
          </a:xfrm>
        </p:grpSpPr>
        <p:sp>
          <p:nvSpPr>
            <p:cNvPr name="Freeform 12" id="12" descr="preencoded.png"/>
            <p:cNvSpPr/>
            <p:nvPr/>
          </p:nvSpPr>
          <p:spPr>
            <a:xfrm flipH="false" flipV="false" rot="0">
              <a:off x="0" y="0"/>
              <a:ext cx="10407904" cy="50800"/>
            </a:xfrm>
            <a:custGeom>
              <a:avLst/>
              <a:gdLst/>
              <a:ahLst/>
              <a:cxnLst/>
              <a:rect r="r" b="b" t="t" l="l"/>
              <a:pathLst>
                <a:path h="50800" w="10407904">
                  <a:moveTo>
                    <a:pt x="0" y="0"/>
                  </a:moveTo>
                  <a:lnTo>
                    <a:pt x="10407904" y="0"/>
                  </a:lnTo>
                  <a:lnTo>
                    <a:pt x="10407904" y="50800"/>
                  </a:lnTo>
                  <a:lnTo>
                    <a:pt x="0" y="50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9" t="0" r="-29" b="0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9499397" y="3723684"/>
            <a:ext cx="7805890" cy="5014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187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Extracted from </a:t>
            </a:r>
            <a:r>
              <a:rPr lang="en-US" sz="2187" b="true">
                <a:solidFill>
                  <a:srgbClr val="384653"/>
                </a:solidFill>
                <a:latin typeface="Roboto Bold"/>
                <a:ea typeface="Roboto Bold"/>
                <a:cs typeface="Roboto Bold"/>
                <a:sym typeface="Roboto Bold"/>
              </a:rPr>
              <a:t>MySQL</a:t>
            </a:r>
            <a:r>
              <a:rPr lang="en-US" sz="2187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 database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499397" y="4635398"/>
            <a:ext cx="567033" cy="440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187">
                <a:solidFill>
                  <a:srgbClr val="384653"/>
                </a:solidFill>
                <a:latin typeface="Arimo"/>
                <a:ea typeface="Arimo"/>
                <a:cs typeface="Arimo"/>
                <a:sym typeface="Arimo"/>
              </a:rPr>
              <a:t>02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9499397" y="5136509"/>
            <a:ext cx="7805890" cy="38100"/>
            <a:chOff x="0" y="0"/>
            <a:chExt cx="10407853" cy="50800"/>
          </a:xfrm>
        </p:grpSpPr>
        <p:sp>
          <p:nvSpPr>
            <p:cNvPr name="Freeform 16" id="16" descr="preencoded.png"/>
            <p:cNvSpPr/>
            <p:nvPr/>
          </p:nvSpPr>
          <p:spPr>
            <a:xfrm flipH="false" flipV="false" rot="0">
              <a:off x="0" y="0"/>
              <a:ext cx="10407904" cy="50800"/>
            </a:xfrm>
            <a:custGeom>
              <a:avLst/>
              <a:gdLst/>
              <a:ahLst/>
              <a:cxnLst/>
              <a:rect r="r" b="b" t="t" l="l"/>
              <a:pathLst>
                <a:path h="50800" w="10407904">
                  <a:moveTo>
                    <a:pt x="0" y="0"/>
                  </a:moveTo>
                  <a:lnTo>
                    <a:pt x="10407904" y="0"/>
                  </a:lnTo>
                  <a:lnTo>
                    <a:pt x="10407904" y="50800"/>
                  </a:lnTo>
                  <a:lnTo>
                    <a:pt x="0" y="50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9" t="0" r="-29" b="0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9499397" y="5306616"/>
            <a:ext cx="7805890" cy="5014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187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Processed using </a:t>
            </a:r>
            <a:r>
              <a:rPr lang="en-US" sz="2187" b="true">
                <a:solidFill>
                  <a:srgbClr val="384653"/>
                </a:solidFill>
                <a:latin typeface="Roboto Bold"/>
                <a:ea typeface="Roboto Bold"/>
                <a:cs typeface="Roboto Bold"/>
                <a:sym typeface="Roboto Bold"/>
              </a:rPr>
              <a:t>Python (Pandas)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499397" y="6218339"/>
            <a:ext cx="567033" cy="440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187">
                <a:solidFill>
                  <a:srgbClr val="384653"/>
                </a:solidFill>
                <a:latin typeface="Arimo"/>
                <a:ea typeface="Arimo"/>
                <a:cs typeface="Arimo"/>
                <a:sym typeface="Arimo"/>
              </a:rPr>
              <a:t>03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9499397" y="6691160"/>
            <a:ext cx="7805890" cy="38100"/>
            <a:chOff x="0" y="0"/>
            <a:chExt cx="10407853" cy="50800"/>
          </a:xfrm>
        </p:grpSpPr>
        <p:sp>
          <p:nvSpPr>
            <p:cNvPr name="Freeform 20" id="20" descr="preencoded.png"/>
            <p:cNvSpPr/>
            <p:nvPr/>
          </p:nvSpPr>
          <p:spPr>
            <a:xfrm flipH="false" flipV="false" rot="0">
              <a:off x="0" y="0"/>
              <a:ext cx="10407904" cy="50800"/>
            </a:xfrm>
            <a:custGeom>
              <a:avLst/>
              <a:gdLst/>
              <a:ahLst/>
              <a:cxnLst/>
              <a:rect r="r" b="b" t="t" l="l"/>
              <a:pathLst>
                <a:path h="50800" w="10407904">
                  <a:moveTo>
                    <a:pt x="0" y="0"/>
                  </a:moveTo>
                  <a:lnTo>
                    <a:pt x="10407904" y="0"/>
                  </a:lnTo>
                  <a:lnTo>
                    <a:pt x="10407904" y="50800"/>
                  </a:lnTo>
                  <a:lnTo>
                    <a:pt x="0" y="50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9" t="0" r="-29" b="0"/>
              </a:stretch>
            </a:blip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9499397" y="6889547"/>
            <a:ext cx="7805890" cy="5014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187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Cleaned &amp; converted to structured format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499397" y="7801270"/>
            <a:ext cx="567033" cy="440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187">
                <a:solidFill>
                  <a:srgbClr val="384653"/>
                </a:solidFill>
                <a:latin typeface="Arimo"/>
                <a:ea typeface="Arimo"/>
                <a:cs typeface="Arimo"/>
                <a:sym typeface="Arimo"/>
              </a:rPr>
              <a:t>04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9499397" y="8245678"/>
            <a:ext cx="7805890" cy="38100"/>
            <a:chOff x="0" y="0"/>
            <a:chExt cx="10407853" cy="50800"/>
          </a:xfrm>
        </p:grpSpPr>
        <p:sp>
          <p:nvSpPr>
            <p:cNvPr name="Freeform 24" id="24" descr="preencoded.png"/>
            <p:cNvSpPr/>
            <p:nvPr/>
          </p:nvSpPr>
          <p:spPr>
            <a:xfrm flipH="false" flipV="false" rot="0">
              <a:off x="0" y="0"/>
              <a:ext cx="10407904" cy="50800"/>
            </a:xfrm>
            <a:custGeom>
              <a:avLst/>
              <a:gdLst/>
              <a:ahLst/>
              <a:cxnLst/>
              <a:rect r="r" b="b" t="t" l="l"/>
              <a:pathLst>
                <a:path h="50800" w="10407904">
                  <a:moveTo>
                    <a:pt x="0" y="0"/>
                  </a:moveTo>
                  <a:lnTo>
                    <a:pt x="10407904" y="0"/>
                  </a:lnTo>
                  <a:lnTo>
                    <a:pt x="10407904" y="50800"/>
                  </a:lnTo>
                  <a:lnTo>
                    <a:pt x="0" y="50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9" t="0" r="-29" b="0"/>
              </a:stretch>
            </a:blip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9499397" y="8472488"/>
            <a:ext cx="7805890" cy="5014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187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Imported into </a:t>
            </a:r>
            <a:r>
              <a:rPr lang="en-US" sz="2187" b="true">
                <a:solidFill>
                  <a:srgbClr val="384653"/>
                </a:solidFill>
                <a:latin typeface="Roboto Bold"/>
                <a:ea typeface="Roboto Bold"/>
                <a:cs typeface="Roboto Bold"/>
                <a:sym typeface="Roboto Bold"/>
              </a:rPr>
              <a:t>Power BI</a:t>
            </a:r>
            <a:r>
              <a:rPr lang="en-US" sz="2187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 and </a:t>
            </a:r>
            <a:r>
              <a:rPr lang="en-US" sz="2187" b="true">
                <a:solidFill>
                  <a:srgbClr val="384653"/>
                </a:solidFill>
                <a:latin typeface="Roboto Bold"/>
                <a:ea typeface="Roboto Bold"/>
                <a:cs typeface="Roboto Bold"/>
                <a:sym typeface="Roboto Bold"/>
              </a:rPr>
              <a:t>Tableau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C7E0E7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AF9F5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1483519"/>
            <a:ext cx="9790957" cy="943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>
                <a:solidFill>
                  <a:srgbClr val="2E3C4E"/>
                </a:solidFill>
                <a:latin typeface="Arimo"/>
                <a:ea typeface="Arimo"/>
                <a:cs typeface="Arimo"/>
                <a:sym typeface="Arimo"/>
              </a:rPr>
              <a:t>Complaint Diagnostic Analysis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92238" y="3170787"/>
            <a:ext cx="5256457" cy="5256457"/>
            <a:chOff x="0" y="0"/>
            <a:chExt cx="7008609" cy="7008609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7008622" cy="7008622"/>
            </a:xfrm>
            <a:custGeom>
              <a:avLst/>
              <a:gdLst/>
              <a:ahLst/>
              <a:cxnLst/>
              <a:rect r="r" b="b" t="t" l="l"/>
              <a:pathLst>
                <a:path h="7008622" w="7008622">
                  <a:moveTo>
                    <a:pt x="0" y="0"/>
                  </a:moveTo>
                  <a:lnTo>
                    <a:pt x="7008622" y="0"/>
                  </a:lnTo>
                  <a:lnTo>
                    <a:pt x="7008622" y="7008622"/>
                  </a:lnTo>
                  <a:lnTo>
                    <a:pt x="0" y="70086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6949973" y="3511001"/>
            <a:ext cx="4572895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2E3C4E"/>
                </a:solidFill>
                <a:latin typeface="Arimo"/>
                <a:ea typeface="Arimo"/>
                <a:cs typeface="Arimo"/>
                <a:sym typeface="Arimo"/>
              </a:rPr>
              <a:t>Complaint Types Over Years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949973" y="4199334"/>
            <a:ext cx="10355161" cy="1550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312"/>
              </a:lnSpc>
              <a:buFont typeface="Arial"/>
              <a:buChar char="•"/>
            </a:pPr>
            <a:r>
              <a:rPr lang="en-US" b="true" sz="2187">
                <a:solidFill>
                  <a:srgbClr val="384653"/>
                </a:solidFill>
                <a:latin typeface="Roboto Bold"/>
                <a:ea typeface="Roboto Bold"/>
                <a:cs typeface="Roboto Bold"/>
                <a:sym typeface="Roboto Bold"/>
              </a:rPr>
              <a:t>Not Upheld</a:t>
            </a:r>
            <a:r>
              <a:rPr lang="en-US" sz="2187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 complaints dominate every year</a:t>
            </a:r>
          </a:p>
          <a:p>
            <a:pPr algn="l" marL="329902" indent="-164951" lvl="1">
              <a:lnSpc>
                <a:spcPts val="3312"/>
              </a:lnSpc>
              <a:buFont typeface="Arial"/>
              <a:buChar char="•"/>
            </a:pPr>
            <a:r>
              <a:rPr lang="en-US" sz="2187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Upheld complaints are very low → indicates good service</a:t>
            </a:r>
          </a:p>
          <a:p>
            <a:pPr algn="l" marL="329902" indent="-164951" lvl="1">
              <a:lnSpc>
                <a:spcPts val="3312"/>
              </a:lnSpc>
              <a:buFont typeface="Arial"/>
              <a:buChar char="•"/>
            </a:pPr>
            <a:r>
              <a:rPr lang="en-US" sz="2187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Complaint volume peaked around </a:t>
            </a:r>
            <a:r>
              <a:rPr lang="en-US" b="true" sz="2187">
                <a:solidFill>
                  <a:srgbClr val="384653"/>
                </a:solidFill>
                <a:latin typeface="Roboto Bold"/>
                <a:ea typeface="Roboto Bold"/>
                <a:cs typeface="Roboto Bold"/>
                <a:sym typeface="Roboto Bold"/>
              </a:rPr>
              <a:t>2014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949973" y="5994797"/>
            <a:ext cx="3703291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2E3C4E"/>
                </a:solidFill>
                <a:latin typeface="Arimo"/>
                <a:ea typeface="Arimo"/>
                <a:cs typeface="Arimo"/>
                <a:sym typeface="Arimo"/>
              </a:rPr>
              <a:t>Total Complaints Trend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949973" y="6683131"/>
            <a:ext cx="10355161" cy="1550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312"/>
              </a:lnSpc>
              <a:buFont typeface="Arial"/>
              <a:buChar char="•"/>
            </a:pPr>
            <a:r>
              <a:rPr lang="en-US" sz="2187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Complaints increased initially (2009–2011)</a:t>
            </a:r>
          </a:p>
          <a:p>
            <a:pPr algn="l" marL="329902" indent="-164951" lvl="1">
              <a:lnSpc>
                <a:spcPts val="3312"/>
              </a:lnSpc>
              <a:buFont typeface="Arial"/>
              <a:buChar char="•"/>
            </a:pPr>
            <a:r>
              <a:rPr lang="en-US" sz="2187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Peak observed in 2014</a:t>
            </a:r>
          </a:p>
          <a:p>
            <a:pPr algn="l" marL="329902" indent="-164951" lvl="1">
              <a:lnSpc>
                <a:spcPts val="3312"/>
              </a:lnSpc>
              <a:buFont typeface="Arial"/>
              <a:buChar char="•"/>
            </a:pPr>
            <a:r>
              <a:rPr lang="en-US" sz="2187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Decline after 2014 → improvement in operations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C7E0E7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AF9F5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1483519"/>
            <a:ext cx="7182145" cy="943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>
                <a:solidFill>
                  <a:srgbClr val="2E3C4E"/>
                </a:solidFill>
                <a:latin typeface="Arimo"/>
                <a:ea typeface="Arimo"/>
                <a:cs typeface="Arimo"/>
                <a:sym typeface="Arimo"/>
              </a:rPr>
              <a:t>Complaint Ratio Trend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92238" y="3170787"/>
            <a:ext cx="5256457" cy="5256457"/>
            <a:chOff x="0" y="0"/>
            <a:chExt cx="7008609" cy="7008609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7008622" cy="7008622"/>
            </a:xfrm>
            <a:custGeom>
              <a:avLst/>
              <a:gdLst/>
              <a:ahLst/>
              <a:cxnLst/>
              <a:rect r="r" b="b" t="t" l="l"/>
              <a:pathLst>
                <a:path h="7008622" w="7008622">
                  <a:moveTo>
                    <a:pt x="0" y="0"/>
                  </a:moveTo>
                  <a:lnTo>
                    <a:pt x="7008622" y="0"/>
                  </a:lnTo>
                  <a:lnTo>
                    <a:pt x="7008622" y="7008622"/>
                  </a:lnTo>
                  <a:lnTo>
                    <a:pt x="0" y="70086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6949973" y="4030713"/>
            <a:ext cx="3544043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2E3C4E"/>
                </a:solidFill>
                <a:latin typeface="Arimo"/>
                <a:ea typeface="Arimo"/>
                <a:cs typeface="Arimo"/>
                <a:sym typeface="Arimo"/>
              </a:rPr>
              <a:t>Key Observations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6930923" y="4811611"/>
            <a:ext cx="3300708" cy="2701080"/>
            <a:chOff x="0" y="0"/>
            <a:chExt cx="4400944" cy="360144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25400" y="25400"/>
              <a:ext cx="4350131" cy="3550666"/>
            </a:xfrm>
            <a:custGeom>
              <a:avLst/>
              <a:gdLst/>
              <a:ahLst/>
              <a:cxnLst/>
              <a:rect r="r" b="b" t="t" l="l"/>
              <a:pathLst>
                <a:path h="3550666" w="4350131">
                  <a:moveTo>
                    <a:pt x="0" y="243840"/>
                  </a:moveTo>
                  <a:cubicBezTo>
                    <a:pt x="0" y="109220"/>
                    <a:pt x="109474" y="0"/>
                    <a:pt x="244475" y="0"/>
                  </a:cubicBezTo>
                  <a:lnTo>
                    <a:pt x="4105656" y="0"/>
                  </a:lnTo>
                  <a:cubicBezTo>
                    <a:pt x="4240657" y="0"/>
                    <a:pt x="4350131" y="109220"/>
                    <a:pt x="4350131" y="243840"/>
                  </a:cubicBezTo>
                  <a:lnTo>
                    <a:pt x="4350131" y="3306826"/>
                  </a:lnTo>
                  <a:cubicBezTo>
                    <a:pt x="4350131" y="3441446"/>
                    <a:pt x="4240657" y="3550666"/>
                    <a:pt x="4105656" y="3550666"/>
                  </a:cubicBezTo>
                  <a:lnTo>
                    <a:pt x="244475" y="3550666"/>
                  </a:lnTo>
                  <a:cubicBezTo>
                    <a:pt x="109474" y="3550666"/>
                    <a:pt x="0" y="3441446"/>
                    <a:pt x="0" y="3306826"/>
                  </a:cubicBezTo>
                  <a:close/>
                </a:path>
              </a:pathLst>
            </a:custGeom>
            <a:solidFill>
              <a:srgbClr val="FAF9F5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400931" cy="3601466"/>
            </a:xfrm>
            <a:custGeom>
              <a:avLst/>
              <a:gdLst/>
              <a:ahLst/>
              <a:cxnLst/>
              <a:rect r="r" b="b" t="t" l="l"/>
              <a:pathLst>
                <a:path h="3601466" w="4400931">
                  <a:moveTo>
                    <a:pt x="0" y="269240"/>
                  </a:moveTo>
                  <a:cubicBezTo>
                    <a:pt x="0" y="120523"/>
                    <a:pt x="120904" y="0"/>
                    <a:pt x="269875" y="0"/>
                  </a:cubicBezTo>
                  <a:lnTo>
                    <a:pt x="4131056" y="0"/>
                  </a:lnTo>
                  <a:lnTo>
                    <a:pt x="4131056" y="25400"/>
                  </a:lnTo>
                  <a:lnTo>
                    <a:pt x="4131056" y="0"/>
                  </a:lnTo>
                  <a:cubicBezTo>
                    <a:pt x="4280027" y="0"/>
                    <a:pt x="4400931" y="120523"/>
                    <a:pt x="4400931" y="269240"/>
                  </a:cubicBezTo>
                  <a:lnTo>
                    <a:pt x="4375531" y="269240"/>
                  </a:lnTo>
                  <a:lnTo>
                    <a:pt x="4400931" y="269240"/>
                  </a:lnTo>
                  <a:lnTo>
                    <a:pt x="4400931" y="3332226"/>
                  </a:lnTo>
                  <a:lnTo>
                    <a:pt x="4375531" y="3332226"/>
                  </a:lnTo>
                  <a:lnTo>
                    <a:pt x="4400931" y="3332226"/>
                  </a:lnTo>
                  <a:cubicBezTo>
                    <a:pt x="4400931" y="3480943"/>
                    <a:pt x="4280027" y="3601466"/>
                    <a:pt x="4131056" y="3601466"/>
                  </a:cubicBezTo>
                  <a:lnTo>
                    <a:pt x="4131056" y="3576066"/>
                  </a:lnTo>
                  <a:lnTo>
                    <a:pt x="4131056" y="3601466"/>
                  </a:lnTo>
                  <a:lnTo>
                    <a:pt x="269875" y="3601466"/>
                  </a:lnTo>
                  <a:lnTo>
                    <a:pt x="269875" y="3576066"/>
                  </a:lnTo>
                  <a:lnTo>
                    <a:pt x="269875" y="3601466"/>
                  </a:lnTo>
                  <a:cubicBezTo>
                    <a:pt x="120904" y="3601466"/>
                    <a:pt x="0" y="3480943"/>
                    <a:pt x="0" y="3332226"/>
                  </a:cubicBezTo>
                  <a:lnTo>
                    <a:pt x="0" y="269240"/>
                  </a:lnTo>
                  <a:lnTo>
                    <a:pt x="25400" y="269240"/>
                  </a:lnTo>
                  <a:lnTo>
                    <a:pt x="0" y="269240"/>
                  </a:lnTo>
                  <a:moveTo>
                    <a:pt x="50800" y="269240"/>
                  </a:moveTo>
                  <a:lnTo>
                    <a:pt x="50800" y="3332226"/>
                  </a:lnTo>
                  <a:lnTo>
                    <a:pt x="25400" y="3332226"/>
                  </a:lnTo>
                  <a:lnTo>
                    <a:pt x="50800" y="3332226"/>
                  </a:lnTo>
                  <a:cubicBezTo>
                    <a:pt x="50800" y="3452749"/>
                    <a:pt x="148844" y="3550666"/>
                    <a:pt x="269875" y="3550666"/>
                  </a:cubicBezTo>
                  <a:lnTo>
                    <a:pt x="4131056" y="3550666"/>
                  </a:lnTo>
                  <a:cubicBezTo>
                    <a:pt x="4252087" y="3550666"/>
                    <a:pt x="4350131" y="3452876"/>
                    <a:pt x="4350131" y="3332226"/>
                  </a:cubicBezTo>
                  <a:lnTo>
                    <a:pt x="4350131" y="269240"/>
                  </a:lnTo>
                  <a:cubicBezTo>
                    <a:pt x="4350131" y="148717"/>
                    <a:pt x="4252087" y="50800"/>
                    <a:pt x="4131056" y="50800"/>
                  </a:cubicBezTo>
                  <a:lnTo>
                    <a:pt x="269875" y="50800"/>
                  </a:lnTo>
                  <a:lnTo>
                    <a:pt x="269875" y="25400"/>
                  </a:lnTo>
                  <a:lnTo>
                    <a:pt x="269875" y="50800"/>
                  </a:lnTo>
                  <a:cubicBezTo>
                    <a:pt x="148844" y="50800"/>
                    <a:pt x="50800" y="148590"/>
                    <a:pt x="50800" y="269240"/>
                  </a:cubicBezTo>
                  <a:close/>
                </a:path>
              </a:pathLst>
            </a:custGeom>
            <a:solidFill>
              <a:srgbClr val="BFD3D8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6911873" y="4830661"/>
            <a:ext cx="152400" cy="2662980"/>
            <a:chOff x="0" y="0"/>
            <a:chExt cx="203200" cy="3550641"/>
          </a:xfrm>
        </p:grpSpPr>
        <p:sp>
          <p:nvSpPr>
            <p:cNvPr name="Freeform 14" id="14" descr="preencoded.png"/>
            <p:cNvSpPr/>
            <p:nvPr/>
          </p:nvSpPr>
          <p:spPr>
            <a:xfrm flipH="false" flipV="false" rot="0">
              <a:off x="0" y="0"/>
              <a:ext cx="203200" cy="3550666"/>
            </a:xfrm>
            <a:custGeom>
              <a:avLst/>
              <a:gdLst/>
              <a:ahLst/>
              <a:cxnLst/>
              <a:rect r="r" b="b" t="t" l="l"/>
              <a:pathLst>
                <a:path h="3550666" w="203200">
                  <a:moveTo>
                    <a:pt x="0" y="0"/>
                  </a:moveTo>
                  <a:lnTo>
                    <a:pt x="203200" y="0"/>
                  </a:lnTo>
                  <a:lnTo>
                    <a:pt x="203200" y="3550666"/>
                  </a:lnTo>
                  <a:lnTo>
                    <a:pt x="0" y="35506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75" r="0" b="-74"/>
              </a:stretch>
            </a:blip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7385895" y="5114182"/>
            <a:ext cx="2505075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384653"/>
                </a:solidFill>
                <a:latin typeface="Arimo"/>
                <a:ea typeface="Arimo"/>
                <a:cs typeface="Arimo"/>
                <a:sym typeface="Arimo"/>
              </a:rPr>
              <a:t>Early Years (2009–2010)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385895" y="6245428"/>
            <a:ext cx="2505075" cy="9266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187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Highest complaint ratio observed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0477052" y="4811611"/>
            <a:ext cx="3300860" cy="2701080"/>
            <a:chOff x="0" y="0"/>
            <a:chExt cx="4401147" cy="360144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25400" y="25400"/>
              <a:ext cx="4350385" cy="3550666"/>
            </a:xfrm>
            <a:custGeom>
              <a:avLst/>
              <a:gdLst/>
              <a:ahLst/>
              <a:cxnLst/>
              <a:rect r="r" b="b" t="t" l="l"/>
              <a:pathLst>
                <a:path h="3550666" w="4350385">
                  <a:moveTo>
                    <a:pt x="0" y="243840"/>
                  </a:moveTo>
                  <a:cubicBezTo>
                    <a:pt x="0" y="109220"/>
                    <a:pt x="109474" y="0"/>
                    <a:pt x="244475" y="0"/>
                  </a:cubicBezTo>
                  <a:lnTo>
                    <a:pt x="4105910" y="0"/>
                  </a:lnTo>
                  <a:cubicBezTo>
                    <a:pt x="4240911" y="0"/>
                    <a:pt x="4350385" y="109220"/>
                    <a:pt x="4350385" y="243840"/>
                  </a:cubicBezTo>
                  <a:lnTo>
                    <a:pt x="4350385" y="3306826"/>
                  </a:lnTo>
                  <a:cubicBezTo>
                    <a:pt x="4350385" y="3441446"/>
                    <a:pt x="4240911" y="3550666"/>
                    <a:pt x="4105910" y="3550666"/>
                  </a:cubicBezTo>
                  <a:lnTo>
                    <a:pt x="244475" y="3550666"/>
                  </a:lnTo>
                  <a:cubicBezTo>
                    <a:pt x="109474" y="3550666"/>
                    <a:pt x="0" y="3441446"/>
                    <a:pt x="0" y="3306826"/>
                  </a:cubicBezTo>
                  <a:close/>
                </a:path>
              </a:pathLst>
            </a:custGeom>
            <a:solidFill>
              <a:srgbClr val="FAF9F5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401185" cy="3601466"/>
            </a:xfrm>
            <a:custGeom>
              <a:avLst/>
              <a:gdLst/>
              <a:ahLst/>
              <a:cxnLst/>
              <a:rect r="r" b="b" t="t" l="l"/>
              <a:pathLst>
                <a:path h="3601466" w="4401185">
                  <a:moveTo>
                    <a:pt x="0" y="269240"/>
                  </a:moveTo>
                  <a:cubicBezTo>
                    <a:pt x="0" y="120523"/>
                    <a:pt x="120904" y="0"/>
                    <a:pt x="269875" y="0"/>
                  </a:cubicBezTo>
                  <a:lnTo>
                    <a:pt x="4131310" y="0"/>
                  </a:lnTo>
                  <a:lnTo>
                    <a:pt x="4131310" y="25400"/>
                  </a:lnTo>
                  <a:lnTo>
                    <a:pt x="4131310" y="0"/>
                  </a:lnTo>
                  <a:cubicBezTo>
                    <a:pt x="4280281" y="0"/>
                    <a:pt x="4401185" y="120523"/>
                    <a:pt x="4401185" y="269240"/>
                  </a:cubicBezTo>
                  <a:lnTo>
                    <a:pt x="4375785" y="269240"/>
                  </a:lnTo>
                  <a:lnTo>
                    <a:pt x="4401185" y="269240"/>
                  </a:lnTo>
                  <a:lnTo>
                    <a:pt x="4401185" y="3332226"/>
                  </a:lnTo>
                  <a:lnTo>
                    <a:pt x="4375785" y="3332226"/>
                  </a:lnTo>
                  <a:lnTo>
                    <a:pt x="4401185" y="3332226"/>
                  </a:lnTo>
                  <a:cubicBezTo>
                    <a:pt x="4401185" y="3480943"/>
                    <a:pt x="4280281" y="3601466"/>
                    <a:pt x="4131310" y="3601466"/>
                  </a:cubicBezTo>
                  <a:lnTo>
                    <a:pt x="4131310" y="3576066"/>
                  </a:lnTo>
                  <a:lnTo>
                    <a:pt x="4131310" y="3601466"/>
                  </a:lnTo>
                  <a:lnTo>
                    <a:pt x="269875" y="3601466"/>
                  </a:lnTo>
                  <a:lnTo>
                    <a:pt x="269875" y="3576066"/>
                  </a:lnTo>
                  <a:lnTo>
                    <a:pt x="269875" y="3601466"/>
                  </a:lnTo>
                  <a:cubicBezTo>
                    <a:pt x="120904" y="3601466"/>
                    <a:pt x="0" y="3480943"/>
                    <a:pt x="0" y="3332226"/>
                  </a:cubicBezTo>
                  <a:lnTo>
                    <a:pt x="0" y="269240"/>
                  </a:lnTo>
                  <a:lnTo>
                    <a:pt x="25400" y="269240"/>
                  </a:lnTo>
                  <a:lnTo>
                    <a:pt x="0" y="269240"/>
                  </a:lnTo>
                  <a:moveTo>
                    <a:pt x="50800" y="269240"/>
                  </a:moveTo>
                  <a:lnTo>
                    <a:pt x="50800" y="3332226"/>
                  </a:lnTo>
                  <a:lnTo>
                    <a:pt x="25400" y="3332226"/>
                  </a:lnTo>
                  <a:lnTo>
                    <a:pt x="50800" y="3332226"/>
                  </a:lnTo>
                  <a:cubicBezTo>
                    <a:pt x="50800" y="3452749"/>
                    <a:pt x="148844" y="3550666"/>
                    <a:pt x="269875" y="3550666"/>
                  </a:cubicBezTo>
                  <a:lnTo>
                    <a:pt x="4131310" y="3550666"/>
                  </a:lnTo>
                  <a:cubicBezTo>
                    <a:pt x="4252341" y="3550666"/>
                    <a:pt x="4350385" y="3452876"/>
                    <a:pt x="4350385" y="3332226"/>
                  </a:cubicBezTo>
                  <a:lnTo>
                    <a:pt x="4350385" y="269240"/>
                  </a:lnTo>
                  <a:cubicBezTo>
                    <a:pt x="4350385" y="148717"/>
                    <a:pt x="4252341" y="50800"/>
                    <a:pt x="4131310" y="50800"/>
                  </a:cubicBezTo>
                  <a:lnTo>
                    <a:pt x="269875" y="50800"/>
                  </a:lnTo>
                  <a:lnTo>
                    <a:pt x="269875" y="25400"/>
                  </a:lnTo>
                  <a:lnTo>
                    <a:pt x="269875" y="50800"/>
                  </a:lnTo>
                  <a:cubicBezTo>
                    <a:pt x="148844" y="50800"/>
                    <a:pt x="50800" y="148590"/>
                    <a:pt x="50800" y="269240"/>
                  </a:cubicBezTo>
                  <a:close/>
                </a:path>
              </a:pathLst>
            </a:custGeom>
            <a:solidFill>
              <a:srgbClr val="BFD3D8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0458002" y="4830661"/>
            <a:ext cx="152400" cy="2662980"/>
            <a:chOff x="0" y="0"/>
            <a:chExt cx="203200" cy="3550641"/>
          </a:xfrm>
        </p:grpSpPr>
        <p:sp>
          <p:nvSpPr>
            <p:cNvPr name="Freeform 21" id="21" descr="preencoded.png"/>
            <p:cNvSpPr/>
            <p:nvPr/>
          </p:nvSpPr>
          <p:spPr>
            <a:xfrm flipH="false" flipV="false" rot="0">
              <a:off x="0" y="0"/>
              <a:ext cx="203200" cy="3550666"/>
            </a:xfrm>
            <a:custGeom>
              <a:avLst/>
              <a:gdLst/>
              <a:ahLst/>
              <a:cxnLst/>
              <a:rect r="r" b="b" t="t" l="l"/>
              <a:pathLst>
                <a:path h="3550666" w="203200">
                  <a:moveTo>
                    <a:pt x="0" y="0"/>
                  </a:moveTo>
                  <a:lnTo>
                    <a:pt x="203200" y="0"/>
                  </a:lnTo>
                  <a:lnTo>
                    <a:pt x="203200" y="3550666"/>
                  </a:lnTo>
                  <a:lnTo>
                    <a:pt x="0" y="35506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75" r="0" b="-74"/>
              </a:stretch>
            </a:blip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10932023" y="5114182"/>
            <a:ext cx="2505227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384653"/>
                </a:solidFill>
                <a:latin typeface="Arimo"/>
                <a:ea typeface="Arimo"/>
                <a:cs typeface="Arimo"/>
                <a:sym typeface="Arimo"/>
              </a:rPr>
              <a:t>After 2011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932023" y="5802516"/>
            <a:ext cx="2505227" cy="9266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187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Significant drop in complaint ratio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4023334" y="4811611"/>
            <a:ext cx="3300860" cy="2701080"/>
            <a:chOff x="0" y="0"/>
            <a:chExt cx="4401147" cy="3601441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25400" y="25400"/>
              <a:ext cx="4350385" cy="3550666"/>
            </a:xfrm>
            <a:custGeom>
              <a:avLst/>
              <a:gdLst/>
              <a:ahLst/>
              <a:cxnLst/>
              <a:rect r="r" b="b" t="t" l="l"/>
              <a:pathLst>
                <a:path h="3550666" w="4350385">
                  <a:moveTo>
                    <a:pt x="0" y="243840"/>
                  </a:moveTo>
                  <a:cubicBezTo>
                    <a:pt x="0" y="109220"/>
                    <a:pt x="109474" y="0"/>
                    <a:pt x="244475" y="0"/>
                  </a:cubicBezTo>
                  <a:lnTo>
                    <a:pt x="4105910" y="0"/>
                  </a:lnTo>
                  <a:cubicBezTo>
                    <a:pt x="4240911" y="0"/>
                    <a:pt x="4350385" y="109220"/>
                    <a:pt x="4350385" y="243840"/>
                  </a:cubicBezTo>
                  <a:lnTo>
                    <a:pt x="4350385" y="3306826"/>
                  </a:lnTo>
                  <a:cubicBezTo>
                    <a:pt x="4350385" y="3441446"/>
                    <a:pt x="4240911" y="3550666"/>
                    <a:pt x="4105910" y="3550666"/>
                  </a:cubicBezTo>
                  <a:lnTo>
                    <a:pt x="244475" y="3550666"/>
                  </a:lnTo>
                  <a:cubicBezTo>
                    <a:pt x="109474" y="3550666"/>
                    <a:pt x="0" y="3441446"/>
                    <a:pt x="0" y="3306826"/>
                  </a:cubicBezTo>
                  <a:close/>
                </a:path>
              </a:pathLst>
            </a:custGeom>
            <a:solidFill>
              <a:srgbClr val="FAF9F5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401185" cy="3601466"/>
            </a:xfrm>
            <a:custGeom>
              <a:avLst/>
              <a:gdLst/>
              <a:ahLst/>
              <a:cxnLst/>
              <a:rect r="r" b="b" t="t" l="l"/>
              <a:pathLst>
                <a:path h="3601466" w="4401185">
                  <a:moveTo>
                    <a:pt x="0" y="269240"/>
                  </a:moveTo>
                  <a:cubicBezTo>
                    <a:pt x="0" y="120523"/>
                    <a:pt x="120904" y="0"/>
                    <a:pt x="269875" y="0"/>
                  </a:cubicBezTo>
                  <a:lnTo>
                    <a:pt x="4131310" y="0"/>
                  </a:lnTo>
                  <a:lnTo>
                    <a:pt x="4131310" y="25400"/>
                  </a:lnTo>
                  <a:lnTo>
                    <a:pt x="4131310" y="0"/>
                  </a:lnTo>
                  <a:cubicBezTo>
                    <a:pt x="4280281" y="0"/>
                    <a:pt x="4401185" y="120523"/>
                    <a:pt x="4401185" y="269240"/>
                  </a:cubicBezTo>
                  <a:lnTo>
                    <a:pt x="4375785" y="269240"/>
                  </a:lnTo>
                  <a:lnTo>
                    <a:pt x="4401185" y="269240"/>
                  </a:lnTo>
                  <a:lnTo>
                    <a:pt x="4401185" y="3332226"/>
                  </a:lnTo>
                  <a:lnTo>
                    <a:pt x="4375785" y="3332226"/>
                  </a:lnTo>
                  <a:lnTo>
                    <a:pt x="4401185" y="3332226"/>
                  </a:lnTo>
                  <a:cubicBezTo>
                    <a:pt x="4401185" y="3480943"/>
                    <a:pt x="4280281" y="3601466"/>
                    <a:pt x="4131310" y="3601466"/>
                  </a:cubicBezTo>
                  <a:lnTo>
                    <a:pt x="4131310" y="3576066"/>
                  </a:lnTo>
                  <a:lnTo>
                    <a:pt x="4131310" y="3601466"/>
                  </a:lnTo>
                  <a:lnTo>
                    <a:pt x="269875" y="3601466"/>
                  </a:lnTo>
                  <a:lnTo>
                    <a:pt x="269875" y="3576066"/>
                  </a:lnTo>
                  <a:lnTo>
                    <a:pt x="269875" y="3601466"/>
                  </a:lnTo>
                  <a:cubicBezTo>
                    <a:pt x="120904" y="3601466"/>
                    <a:pt x="0" y="3480943"/>
                    <a:pt x="0" y="3332226"/>
                  </a:cubicBezTo>
                  <a:lnTo>
                    <a:pt x="0" y="269240"/>
                  </a:lnTo>
                  <a:lnTo>
                    <a:pt x="25400" y="269240"/>
                  </a:lnTo>
                  <a:lnTo>
                    <a:pt x="0" y="269240"/>
                  </a:lnTo>
                  <a:moveTo>
                    <a:pt x="50800" y="269240"/>
                  </a:moveTo>
                  <a:lnTo>
                    <a:pt x="50800" y="3332226"/>
                  </a:lnTo>
                  <a:lnTo>
                    <a:pt x="25400" y="3332226"/>
                  </a:lnTo>
                  <a:lnTo>
                    <a:pt x="50800" y="3332226"/>
                  </a:lnTo>
                  <a:cubicBezTo>
                    <a:pt x="50800" y="3452749"/>
                    <a:pt x="148844" y="3550666"/>
                    <a:pt x="269875" y="3550666"/>
                  </a:cubicBezTo>
                  <a:lnTo>
                    <a:pt x="4131310" y="3550666"/>
                  </a:lnTo>
                  <a:cubicBezTo>
                    <a:pt x="4252341" y="3550666"/>
                    <a:pt x="4350385" y="3452876"/>
                    <a:pt x="4350385" y="3332226"/>
                  </a:cubicBezTo>
                  <a:lnTo>
                    <a:pt x="4350385" y="269240"/>
                  </a:lnTo>
                  <a:cubicBezTo>
                    <a:pt x="4350385" y="148717"/>
                    <a:pt x="4252341" y="50800"/>
                    <a:pt x="4131310" y="50800"/>
                  </a:cubicBezTo>
                  <a:lnTo>
                    <a:pt x="269875" y="50800"/>
                  </a:lnTo>
                  <a:lnTo>
                    <a:pt x="269875" y="25400"/>
                  </a:lnTo>
                  <a:lnTo>
                    <a:pt x="269875" y="50800"/>
                  </a:lnTo>
                  <a:cubicBezTo>
                    <a:pt x="148844" y="50800"/>
                    <a:pt x="50800" y="148590"/>
                    <a:pt x="50800" y="269240"/>
                  </a:cubicBezTo>
                  <a:close/>
                </a:path>
              </a:pathLst>
            </a:custGeom>
            <a:solidFill>
              <a:srgbClr val="BFD3D8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4004284" y="4830661"/>
            <a:ext cx="152400" cy="2662980"/>
            <a:chOff x="0" y="0"/>
            <a:chExt cx="203200" cy="3550641"/>
          </a:xfrm>
        </p:grpSpPr>
        <p:sp>
          <p:nvSpPr>
            <p:cNvPr name="Freeform 28" id="28" descr="preencoded.png"/>
            <p:cNvSpPr/>
            <p:nvPr/>
          </p:nvSpPr>
          <p:spPr>
            <a:xfrm flipH="false" flipV="false" rot="0">
              <a:off x="0" y="0"/>
              <a:ext cx="203200" cy="3550666"/>
            </a:xfrm>
            <a:custGeom>
              <a:avLst/>
              <a:gdLst/>
              <a:ahLst/>
              <a:cxnLst/>
              <a:rect r="r" b="b" t="t" l="l"/>
              <a:pathLst>
                <a:path h="3550666" w="203200">
                  <a:moveTo>
                    <a:pt x="0" y="0"/>
                  </a:moveTo>
                  <a:lnTo>
                    <a:pt x="203200" y="0"/>
                  </a:lnTo>
                  <a:lnTo>
                    <a:pt x="203200" y="3550666"/>
                  </a:lnTo>
                  <a:lnTo>
                    <a:pt x="0" y="35506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75" r="0" b="-74"/>
              </a:stretch>
            </a:blip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14478295" y="5114182"/>
            <a:ext cx="2505227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384653"/>
                </a:solidFill>
                <a:latin typeface="Arimo"/>
                <a:ea typeface="Arimo"/>
                <a:cs typeface="Arimo"/>
                <a:sym typeface="Arimo"/>
              </a:rPr>
              <a:t>2015–2016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4478295" y="5802516"/>
            <a:ext cx="2505227" cy="13518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187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Near-zero ratio → excellent performance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C7E0E7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AF9F5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1483519"/>
            <a:ext cx="7088238" cy="943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>
                <a:solidFill>
                  <a:srgbClr val="2E3C4E"/>
                </a:solidFill>
                <a:latin typeface="Arimo"/>
                <a:ea typeface="Arimo"/>
                <a:cs typeface="Arimo"/>
                <a:sym typeface="Arimo"/>
              </a:rPr>
              <a:t>Premium Analysis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92238" y="3170787"/>
            <a:ext cx="5256457" cy="5256457"/>
            <a:chOff x="0" y="0"/>
            <a:chExt cx="7008609" cy="7008609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7008622" cy="7008622"/>
            </a:xfrm>
            <a:custGeom>
              <a:avLst/>
              <a:gdLst/>
              <a:ahLst/>
              <a:cxnLst/>
              <a:rect r="r" b="b" t="t" l="l"/>
              <a:pathLst>
                <a:path h="7008622" w="7008622">
                  <a:moveTo>
                    <a:pt x="0" y="0"/>
                  </a:moveTo>
                  <a:lnTo>
                    <a:pt x="7008622" y="0"/>
                  </a:lnTo>
                  <a:lnTo>
                    <a:pt x="7008622" y="7008622"/>
                  </a:lnTo>
                  <a:lnTo>
                    <a:pt x="0" y="70086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6949973" y="3773243"/>
            <a:ext cx="4906270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2E3C4E"/>
                </a:solidFill>
                <a:latin typeface="Arimo"/>
                <a:ea typeface="Arimo"/>
                <a:cs typeface="Arimo"/>
                <a:sym typeface="Arimo"/>
              </a:rPr>
              <a:t>Premium Trend (2009–2016)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949973" y="4461567"/>
            <a:ext cx="10355161" cy="10257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312"/>
              </a:lnSpc>
              <a:buFont typeface="Arial"/>
              <a:buChar char="•"/>
            </a:pPr>
            <a:r>
              <a:rPr lang="en-US" sz="2187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Continuous growth in premiums from 2009 to 2016</a:t>
            </a:r>
          </a:p>
          <a:p>
            <a:pPr algn="l" marL="329902" indent="-164951" lvl="1">
              <a:lnSpc>
                <a:spcPts val="3312"/>
              </a:lnSpc>
              <a:buFont typeface="Arial"/>
              <a:buChar char="•"/>
            </a:pPr>
            <a:r>
              <a:rPr lang="en-US" sz="2187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Indicates business expansion and increased customer base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949973" y="5732707"/>
            <a:ext cx="3902126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2E3C4E"/>
                </a:solidFill>
                <a:latin typeface="Arimo"/>
                <a:ea typeface="Arimo"/>
                <a:cs typeface="Arimo"/>
                <a:sym typeface="Arimo"/>
              </a:rPr>
              <a:t>Premium vs. Complaints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949973" y="6421041"/>
            <a:ext cx="10355161" cy="1550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312"/>
              </a:lnSpc>
              <a:buFont typeface="Arial"/>
              <a:buChar char="•"/>
            </a:pPr>
            <a:r>
              <a:rPr lang="en-US" sz="2187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Premiums increased steadily</a:t>
            </a:r>
          </a:p>
          <a:p>
            <a:pPr algn="l" marL="329902" indent="-164951" lvl="1">
              <a:lnSpc>
                <a:spcPts val="3312"/>
              </a:lnSpc>
              <a:buFont typeface="Arial"/>
              <a:buChar char="•"/>
            </a:pPr>
            <a:r>
              <a:rPr lang="en-US" sz="2187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Complaints fluctuated but stabilized</a:t>
            </a:r>
          </a:p>
          <a:p>
            <a:pPr algn="l" marL="329902" indent="-164951" lvl="1">
              <a:lnSpc>
                <a:spcPts val="3312"/>
              </a:lnSpc>
              <a:buFont typeface="Arial"/>
              <a:buChar char="•"/>
            </a:pPr>
            <a:r>
              <a:rPr lang="en-US" sz="2187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Growth did </a:t>
            </a:r>
            <a:r>
              <a:rPr lang="en-US" b="true" sz="2187">
                <a:solidFill>
                  <a:srgbClr val="384653"/>
                </a:solidFill>
                <a:latin typeface="Roboto Bold"/>
                <a:ea typeface="Roboto Bold"/>
                <a:cs typeface="Roboto Bold"/>
                <a:sym typeface="Roboto Bold"/>
              </a:rPr>
              <a:t>not</a:t>
            </a:r>
            <a:r>
              <a:rPr lang="en-US" sz="2187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 negatively impact service quality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C7E0E7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AF9F5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2097291"/>
            <a:ext cx="16303523" cy="1829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>
                <a:solidFill>
                  <a:srgbClr val="2E3C4E"/>
                </a:solidFill>
                <a:latin typeface="Arimo"/>
                <a:ea typeface="Arimo"/>
                <a:cs typeface="Arimo"/>
                <a:sym typeface="Arimo"/>
              </a:rPr>
              <a:t>Selected Company: Progressive Specialty Insurance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38" y="4739878"/>
            <a:ext cx="5198269" cy="8307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12"/>
              </a:lnSpc>
            </a:pPr>
            <a:r>
              <a:rPr lang="en-US" sz="7312">
                <a:solidFill>
                  <a:srgbClr val="384653"/>
                </a:solidFill>
                <a:latin typeface="Arimo"/>
                <a:ea typeface="Arimo"/>
                <a:cs typeface="Arimo"/>
                <a:sym typeface="Arimo"/>
              </a:rPr>
              <a:t>32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819275" y="5886745"/>
            <a:ext cx="3544043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37"/>
              </a:lnSpc>
            </a:pPr>
            <a:r>
              <a:rPr lang="en-US" sz="2750">
                <a:solidFill>
                  <a:srgbClr val="384653"/>
                </a:solidFill>
                <a:latin typeface="Arimo"/>
                <a:ea typeface="Arimo"/>
                <a:cs typeface="Arimo"/>
                <a:sym typeface="Arimo"/>
              </a:rPr>
              <a:t>Avg Complaints/Year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2238" y="6461674"/>
            <a:ext cx="5198269" cy="9266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12"/>
              </a:lnSpc>
            </a:pPr>
            <a:r>
              <a:rPr lang="en-US" sz="2187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Moderate volume relative to business size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544866" y="4739878"/>
            <a:ext cx="5198269" cy="8307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12"/>
              </a:lnSpc>
            </a:pPr>
            <a:r>
              <a:rPr lang="en-US" sz="7312">
                <a:solidFill>
                  <a:srgbClr val="384653"/>
                </a:solidFill>
                <a:latin typeface="Arimo"/>
                <a:ea typeface="Arimo"/>
                <a:cs typeface="Arimo"/>
                <a:sym typeface="Arimo"/>
              </a:rPr>
              <a:t>$130M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371902" y="5886745"/>
            <a:ext cx="3544043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37"/>
              </a:lnSpc>
            </a:pPr>
            <a:r>
              <a:rPr lang="en-US" sz="2750">
                <a:solidFill>
                  <a:srgbClr val="384653"/>
                </a:solidFill>
                <a:latin typeface="Arimo"/>
                <a:ea typeface="Arimo"/>
                <a:cs typeface="Arimo"/>
                <a:sym typeface="Arimo"/>
              </a:rPr>
              <a:t>Avg Premium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544866" y="6461674"/>
            <a:ext cx="5198269" cy="5014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12"/>
              </a:lnSpc>
            </a:pPr>
            <a:r>
              <a:rPr lang="en-US" sz="2187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Strong revenue performance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097493" y="4739878"/>
            <a:ext cx="5198269" cy="8307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12"/>
              </a:lnSpc>
            </a:pPr>
            <a:r>
              <a:rPr lang="en-US" sz="7312">
                <a:solidFill>
                  <a:srgbClr val="384653"/>
                </a:solidFill>
                <a:latin typeface="Arimo"/>
                <a:ea typeface="Arimo"/>
                <a:cs typeface="Arimo"/>
                <a:sym typeface="Arimo"/>
              </a:rPr>
              <a:t>~2%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924530" y="5886745"/>
            <a:ext cx="3544043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37"/>
              </a:lnSpc>
            </a:pPr>
            <a:r>
              <a:rPr lang="en-US" sz="2750">
                <a:solidFill>
                  <a:srgbClr val="384653"/>
                </a:solidFill>
                <a:latin typeface="Arimo"/>
                <a:ea typeface="Arimo"/>
                <a:cs typeface="Arimo"/>
                <a:sym typeface="Arimo"/>
              </a:rPr>
              <a:t>Avg Complaint Ratio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097493" y="6461674"/>
            <a:ext cx="5198269" cy="5014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12"/>
              </a:lnSpc>
            </a:pPr>
            <a:r>
              <a:rPr lang="en-US" sz="2187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Stable, low ratio over time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92238" y="7631011"/>
            <a:ext cx="16303523" cy="5014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187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Progressive maintains stable performance with moderate complaints relative to its business size.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C7E0E7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AF9F5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14695" y="691601"/>
            <a:ext cx="9150248" cy="8643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74"/>
              </a:lnSpc>
            </a:pPr>
            <a:r>
              <a:rPr lang="en-US" sz="5125">
                <a:solidFill>
                  <a:srgbClr val="2E3C4E"/>
                </a:solidFill>
                <a:latin typeface="Arimo"/>
                <a:ea typeface="Arimo"/>
                <a:cs typeface="Arimo"/>
                <a:sym typeface="Arimo"/>
              </a:rPr>
              <a:t>Power BI Dashboard Highlights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14695" y="2188369"/>
            <a:ext cx="5346059" cy="5346059"/>
            <a:chOff x="0" y="0"/>
            <a:chExt cx="7128078" cy="7128078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7128129" cy="7128129"/>
            </a:xfrm>
            <a:custGeom>
              <a:avLst/>
              <a:gdLst/>
              <a:ahLst/>
              <a:cxnLst/>
              <a:rect r="r" b="b" t="t" l="l"/>
              <a:pathLst>
                <a:path h="7128129" w="7128129">
                  <a:moveTo>
                    <a:pt x="0" y="0"/>
                  </a:moveTo>
                  <a:lnTo>
                    <a:pt x="7128129" y="0"/>
                  </a:lnTo>
                  <a:lnTo>
                    <a:pt x="7128129" y="7128129"/>
                  </a:lnTo>
                  <a:lnTo>
                    <a:pt x="0" y="71281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6907854" y="3964781"/>
            <a:ext cx="3267227" cy="427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562">
                <a:solidFill>
                  <a:srgbClr val="2E3C4E"/>
                </a:solidFill>
                <a:latin typeface="Arimo"/>
                <a:ea typeface="Arimo"/>
                <a:cs typeface="Arimo"/>
                <a:sym typeface="Arimo"/>
              </a:rPr>
              <a:t>KPI Cards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907854" y="4566342"/>
            <a:ext cx="10474823" cy="11967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7"/>
              </a:lnSpc>
            </a:pPr>
            <a:r>
              <a:rPr lang="en-US" sz="2000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Visuals include complaint distribution, complaint trends, premium trends, and premium vs. complaints. Majority of complaints are not upheld, complaint ratio remains low, and premium growth is consistent.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909933" y="8071695"/>
            <a:ext cx="3943350" cy="1480690"/>
            <a:chOff x="0" y="0"/>
            <a:chExt cx="5257800" cy="197425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6350" y="6350"/>
              <a:ext cx="5245100" cy="1961642"/>
            </a:xfrm>
            <a:custGeom>
              <a:avLst/>
              <a:gdLst/>
              <a:ahLst/>
              <a:cxnLst/>
              <a:rect r="r" b="b" t="t" l="l"/>
              <a:pathLst>
                <a:path h="1961642" w="5245100">
                  <a:moveTo>
                    <a:pt x="0" y="146431"/>
                  </a:moveTo>
                  <a:cubicBezTo>
                    <a:pt x="0" y="65532"/>
                    <a:pt x="65786" y="0"/>
                    <a:pt x="146939" y="0"/>
                  </a:cubicBezTo>
                  <a:lnTo>
                    <a:pt x="5098161" y="0"/>
                  </a:lnTo>
                  <a:cubicBezTo>
                    <a:pt x="5179314" y="0"/>
                    <a:pt x="5245100" y="65532"/>
                    <a:pt x="5245100" y="146431"/>
                  </a:cubicBezTo>
                  <a:lnTo>
                    <a:pt x="5245100" y="1815211"/>
                  </a:lnTo>
                  <a:cubicBezTo>
                    <a:pt x="5245100" y="1896110"/>
                    <a:pt x="5179314" y="1961642"/>
                    <a:pt x="5098161" y="1961642"/>
                  </a:cubicBezTo>
                  <a:lnTo>
                    <a:pt x="146939" y="1961642"/>
                  </a:lnTo>
                  <a:cubicBezTo>
                    <a:pt x="65786" y="1961515"/>
                    <a:pt x="0" y="1895983"/>
                    <a:pt x="0" y="1815211"/>
                  </a:cubicBezTo>
                  <a:close/>
                </a:path>
              </a:pathLst>
            </a:custGeom>
            <a:solidFill>
              <a:srgbClr val="D9EDF2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257800" cy="1974342"/>
            </a:xfrm>
            <a:custGeom>
              <a:avLst/>
              <a:gdLst/>
              <a:ahLst/>
              <a:cxnLst/>
              <a:rect r="r" b="b" t="t" l="l"/>
              <a:pathLst>
                <a:path h="1974342" w="5257800">
                  <a:moveTo>
                    <a:pt x="0" y="152781"/>
                  </a:moveTo>
                  <a:cubicBezTo>
                    <a:pt x="0" y="68326"/>
                    <a:pt x="68707" y="0"/>
                    <a:pt x="153289" y="0"/>
                  </a:cubicBezTo>
                  <a:lnTo>
                    <a:pt x="5104511" y="0"/>
                  </a:lnTo>
                  <a:lnTo>
                    <a:pt x="5104511" y="6350"/>
                  </a:lnTo>
                  <a:lnTo>
                    <a:pt x="5104511" y="0"/>
                  </a:lnTo>
                  <a:cubicBezTo>
                    <a:pt x="5189093" y="0"/>
                    <a:pt x="5257800" y="68326"/>
                    <a:pt x="5257800" y="152781"/>
                  </a:cubicBezTo>
                  <a:lnTo>
                    <a:pt x="5251450" y="152781"/>
                  </a:lnTo>
                  <a:lnTo>
                    <a:pt x="5257800" y="152781"/>
                  </a:lnTo>
                  <a:lnTo>
                    <a:pt x="5257800" y="1821561"/>
                  </a:lnTo>
                  <a:lnTo>
                    <a:pt x="5251450" y="1821561"/>
                  </a:lnTo>
                  <a:lnTo>
                    <a:pt x="5257800" y="1821561"/>
                  </a:lnTo>
                  <a:cubicBezTo>
                    <a:pt x="5257800" y="1905889"/>
                    <a:pt x="5189093" y="1974342"/>
                    <a:pt x="5104511" y="1974342"/>
                  </a:cubicBezTo>
                  <a:lnTo>
                    <a:pt x="5104511" y="1967992"/>
                  </a:lnTo>
                  <a:lnTo>
                    <a:pt x="5104511" y="1974342"/>
                  </a:lnTo>
                  <a:lnTo>
                    <a:pt x="153289" y="1974342"/>
                  </a:lnTo>
                  <a:lnTo>
                    <a:pt x="153289" y="1967992"/>
                  </a:lnTo>
                  <a:lnTo>
                    <a:pt x="153289" y="1974342"/>
                  </a:lnTo>
                  <a:cubicBezTo>
                    <a:pt x="68707" y="1974215"/>
                    <a:pt x="0" y="1905889"/>
                    <a:pt x="0" y="1821561"/>
                  </a:cubicBezTo>
                  <a:lnTo>
                    <a:pt x="0" y="152781"/>
                  </a:lnTo>
                  <a:lnTo>
                    <a:pt x="6350" y="152781"/>
                  </a:lnTo>
                  <a:lnTo>
                    <a:pt x="0" y="152781"/>
                  </a:lnTo>
                  <a:moveTo>
                    <a:pt x="12700" y="152781"/>
                  </a:moveTo>
                  <a:lnTo>
                    <a:pt x="12700" y="1821561"/>
                  </a:lnTo>
                  <a:lnTo>
                    <a:pt x="6350" y="1821561"/>
                  </a:lnTo>
                  <a:lnTo>
                    <a:pt x="12700" y="1821561"/>
                  </a:lnTo>
                  <a:cubicBezTo>
                    <a:pt x="12700" y="1898904"/>
                    <a:pt x="75692" y="1961642"/>
                    <a:pt x="153289" y="1961642"/>
                  </a:cubicBezTo>
                  <a:lnTo>
                    <a:pt x="5104511" y="1961642"/>
                  </a:lnTo>
                  <a:cubicBezTo>
                    <a:pt x="5182235" y="1961642"/>
                    <a:pt x="5245100" y="1898904"/>
                    <a:pt x="5245100" y="1821561"/>
                  </a:cubicBezTo>
                  <a:lnTo>
                    <a:pt x="5245100" y="152781"/>
                  </a:lnTo>
                  <a:cubicBezTo>
                    <a:pt x="5245100" y="75438"/>
                    <a:pt x="5182108" y="12700"/>
                    <a:pt x="5104511" y="12700"/>
                  </a:cubicBezTo>
                  <a:lnTo>
                    <a:pt x="153289" y="12700"/>
                  </a:lnTo>
                  <a:lnTo>
                    <a:pt x="153289" y="6350"/>
                  </a:lnTo>
                  <a:lnTo>
                    <a:pt x="153289" y="12700"/>
                  </a:lnTo>
                  <a:cubicBezTo>
                    <a:pt x="75692" y="12700"/>
                    <a:pt x="12700" y="75438"/>
                    <a:pt x="12700" y="152781"/>
                  </a:cubicBezTo>
                  <a:close/>
                </a:path>
              </a:pathLst>
            </a:custGeom>
            <a:solidFill>
              <a:srgbClr val="BFD3D8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185567" y="8328269"/>
            <a:ext cx="3267227" cy="427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562">
                <a:solidFill>
                  <a:srgbClr val="384653"/>
                </a:solidFill>
                <a:latin typeface="Arimo"/>
                <a:ea typeface="Arimo"/>
                <a:cs typeface="Arimo"/>
                <a:sym typeface="Arimo"/>
              </a:rPr>
              <a:t>36K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85567" y="8833399"/>
            <a:ext cx="3392091" cy="44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7"/>
              </a:lnSpc>
            </a:pPr>
            <a:r>
              <a:rPr lang="en-US" sz="2000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Total Complaints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5084712" y="8071695"/>
            <a:ext cx="3943502" cy="1480690"/>
            <a:chOff x="0" y="0"/>
            <a:chExt cx="5258003" cy="197425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6350" y="6350"/>
              <a:ext cx="5245227" cy="1961642"/>
            </a:xfrm>
            <a:custGeom>
              <a:avLst/>
              <a:gdLst/>
              <a:ahLst/>
              <a:cxnLst/>
              <a:rect r="r" b="b" t="t" l="l"/>
              <a:pathLst>
                <a:path h="1961642" w="5245227">
                  <a:moveTo>
                    <a:pt x="0" y="146431"/>
                  </a:moveTo>
                  <a:cubicBezTo>
                    <a:pt x="0" y="65532"/>
                    <a:pt x="65786" y="0"/>
                    <a:pt x="146939" y="0"/>
                  </a:cubicBezTo>
                  <a:lnTo>
                    <a:pt x="5098288" y="0"/>
                  </a:lnTo>
                  <a:cubicBezTo>
                    <a:pt x="5179441" y="0"/>
                    <a:pt x="5245227" y="65532"/>
                    <a:pt x="5245227" y="146431"/>
                  </a:cubicBezTo>
                  <a:lnTo>
                    <a:pt x="5245227" y="1815211"/>
                  </a:lnTo>
                  <a:cubicBezTo>
                    <a:pt x="5245227" y="1896110"/>
                    <a:pt x="5179441" y="1961642"/>
                    <a:pt x="5098288" y="1961642"/>
                  </a:cubicBezTo>
                  <a:lnTo>
                    <a:pt x="146939" y="1961642"/>
                  </a:lnTo>
                  <a:cubicBezTo>
                    <a:pt x="65786" y="1961515"/>
                    <a:pt x="0" y="1895983"/>
                    <a:pt x="0" y="1815211"/>
                  </a:cubicBezTo>
                  <a:close/>
                </a:path>
              </a:pathLst>
            </a:custGeom>
            <a:solidFill>
              <a:srgbClr val="D9EDF2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257927" cy="1974342"/>
            </a:xfrm>
            <a:custGeom>
              <a:avLst/>
              <a:gdLst/>
              <a:ahLst/>
              <a:cxnLst/>
              <a:rect r="r" b="b" t="t" l="l"/>
              <a:pathLst>
                <a:path h="1974342" w="5257927">
                  <a:moveTo>
                    <a:pt x="0" y="152781"/>
                  </a:moveTo>
                  <a:cubicBezTo>
                    <a:pt x="0" y="68326"/>
                    <a:pt x="68707" y="0"/>
                    <a:pt x="153289" y="0"/>
                  </a:cubicBezTo>
                  <a:lnTo>
                    <a:pt x="5104638" y="0"/>
                  </a:lnTo>
                  <a:lnTo>
                    <a:pt x="5104638" y="6350"/>
                  </a:lnTo>
                  <a:lnTo>
                    <a:pt x="5104638" y="0"/>
                  </a:lnTo>
                  <a:cubicBezTo>
                    <a:pt x="5189347" y="0"/>
                    <a:pt x="5257927" y="68326"/>
                    <a:pt x="5257927" y="152781"/>
                  </a:cubicBezTo>
                  <a:lnTo>
                    <a:pt x="5251577" y="152781"/>
                  </a:lnTo>
                  <a:lnTo>
                    <a:pt x="5257927" y="152781"/>
                  </a:lnTo>
                  <a:lnTo>
                    <a:pt x="5257927" y="1821561"/>
                  </a:lnTo>
                  <a:lnTo>
                    <a:pt x="5251577" y="1821561"/>
                  </a:lnTo>
                  <a:lnTo>
                    <a:pt x="5257927" y="1821561"/>
                  </a:lnTo>
                  <a:cubicBezTo>
                    <a:pt x="5257927" y="1905889"/>
                    <a:pt x="5189220" y="1974342"/>
                    <a:pt x="5104638" y="1974342"/>
                  </a:cubicBezTo>
                  <a:lnTo>
                    <a:pt x="5104638" y="1967992"/>
                  </a:lnTo>
                  <a:lnTo>
                    <a:pt x="5104638" y="1974342"/>
                  </a:lnTo>
                  <a:lnTo>
                    <a:pt x="153289" y="1974342"/>
                  </a:lnTo>
                  <a:lnTo>
                    <a:pt x="153289" y="1967992"/>
                  </a:lnTo>
                  <a:lnTo>
                    <a:pt x="153289" y="1974342"/>
                  </a:lnTo>
                  <a:cubicBezTo>
                    <a:pt x="68707" y="1974215"/>
                    <a:pt x="0" y="1905889"/>
                    <a:pt x="0" y="1821561"/>
                  </a:cubicBezTo>
                  <a:lnTo>
                    <a:pt x="0" y="152781"/>
                  </a:lnTo>
                  <a:lnTo>
                    <a:pt x="6350" y="152781"/>
                  </a:lnTo>
                  <a:lnTo>
                    <a:pt x="0" y="152781"/>
                  </a:lnTo>
                  <a:moveTo>
                    <a:pt x="12700" y="152781"/>
                  </a:moveTo>
                  <a:lnTo>
                    <a:pt x="12700" y="1821561"/>
                  </a:lnTo>
                  <a:lnTo>
                    <a:pt x="6350" y="1821561"/>
                  </a:lnTo>
                  <a:lnTo>
                    <a:pt x="12700" y="1821561"/>
                  </a:lnTo>
                  <a:cubicBezTo>
                    <a:pt x="12700" y="1898904"/>
                    <a:pt x="75692" y="1961642"/>
                    <a:pt x="153289" y="1961642"/>
                  </a:cubicBezTo>
                  <a:lnTo>
                    <a:pt x="5104638" y="1961642"/>
                  </a:lnTo>
                  <a:cubicBezTo>
                    <a:pt x="5182362" y="1961642"/>
                    <a:pt x="5245227" y="1898904"/>
                    <a:pt x="5245227" y="1821561"/>
                  </a:cubicBezTo>
                  <a:lnTo>
                    <a:pt x="5245227" y="152781"/>
                  </a:lnTo>
                  <a:cubicBezTo>
                    <a:pt x="5245354" y="75438"/>
                    <a:pt x="5182362" y="12700"/>
                    <a:pt x="5104638" y="12700"/>
                  </a:cubicBezTo>
                  <a:lnTo>
                    <a:pt x="153289" y="12700"/>
                  </a:lnTo>
                  <a:lnTo>
                    <a:pt x="153289" y="6350"/>
                  </a:lnTo>
                  <a:lnTo>
                    <a:pt x="153289" y="12700"/>
                  </a:lnTo>
                  <a:cubicBezTo>
                    <a:pt x="75692" y="12700"/>
                    <a:pt x="12700" y="75438"/>
                    <a:pt x="12700" y="152781"/>
                  </a:cubicBezTo>
                  <a:close/>
                </a:path>
              </a:pathLst>
            </a:custGeom>
            <a:solidFill>
              <a:srgbClr val="BFD3D8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5360346" y="8328269"/>
            <a:ext cx="3267227" cy="427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562">
                <a:solidFill>
                  <a:srgbClr val="384653"/>
                </a:solidFill>
                <a:latin typeface="Arimo"/>
                <a:ea typeface="Arimo"/>
                <a:cs typeface="Arimo"/>
                <a:sym typeface="Arimo"/>
              </a:rPr>
              <a:t>87.43K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360346" y="8833399"/>
            <a:ext cx="3392243" cy="44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7"/>
              </a:lnSpc>
            </a:pPr>
            <a:r>
              <a:rPr lang="en-US" sz="2000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Total Premium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9259643" y="8071695"/>
            <a:ext cx="3943502" cy="1480690"/>
            <a:chOff x="0" y="0"/>
            <a:chExt cx="5258003" cy="1974253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6350" y="6350"/>
              <a:ext cx="5245227" cy="1961642"/>
            </a:xfrm>
            <a:custGeom>
              <a:avLst/>
              <a:gdLst/>
              <a:ahLst/>
              <a:cxnLst/>
              <a:rect r="r" b="b" t="t" l="l"/>
              <a:pathLst>
                <a:path h="1961642" w="5245227">
                  <a:moveTo>
                    <a:pt x="0" y="146431"/>
                  </a:moveTo>
                  <a:cubicBezTo>
                    <a:pt x="0" y="65532"/>
                    <a:pt x="65786" y="0"/>
                    <a:pt x="146939" y="0"/>
                  </a:cubicBezTo>
                  <a:lnTo>
                    <a:pt x="5098288" y="0"/>
                  </a:lnTo>
                  <a:cubicBezTo>
                    <a:pt x="5179441" y="0"/>
                    <a:pt x="5245227" y="65532"/>
                    <a:pt x="5245227" y="146431"/>
                  </a:cubicBezTo>
                  <a:lnTo>
                    <a:pt x="5245227" y="1815211"/>
                  </a:lnTo>
                  <a:cubicBezTo>
                    <a:pt x="5245227" y="1896110"/>
                    <a:pt x="5179441" y="1961642"/>
                    <a:pt x="5098288" y="1961642"/>
                  </a:cubicBezTo>
                  <a:lnTo>
                    <a:pt x="146939" y="1961642"/>
                  </a:lnTo>
                  <a:cubicBezTo>
                    <a:pt x="65786" y="1961515"/>
                    <a:pt x="0" y="1895983"/>
                    <a:pt x="0" y="1815211"/>
                  </a:cubicBezTo>
                  <a:close/>
                </a:path>
              </a:pathLst>
            </a:custGeom>
            <a:solidFill>
              <a:srgbClr val="D9EDF2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257927" cy="1974342"/>
            </a:xfrm>
            <a:custGeom>
              <a:avLst/>
              <a:gdLst/>
              <a:ahLst/>
              <a:cxnLst/>
              <a:rect r="r" b="b" t="t" l="l"/>
              <a:pathLst>
                <a:path h="1974342" w="5257927">
                  <a:moveTo>
                    <a:pt x="0" y="152781"/>
                  </a:moveTo>
                  <a:cubicBezTo>
                    <a:pt x="0" y="68326"/>
                    <a:pt x="68707" y="0"/>
                    <a:pt x="153289" y="0"/>
                  </a:cubicBezTo>
                  <a:lnTo>
                    <a:pt x="5104638" y="0"/>
                  </a:lnTo>
                  <a:lnTo>
                    <a:pt x="5104638" y="6350"/>
                  </a:lnTo>
                  <a:lnTo>
                    <a:pt x="5104638" y="0"/>
                  </a:lnTo>
                  <a:cubicBezTo>
                    <a:pt x="5189347" y="0"/>
                    <a:pt x="5257927" y="68326"/>
                    <a:pt x="5257927" y="152781"/>
                  </a:cubicBezTo>
                  <a:lnTo>
                    <a:pt x="5251577" y="152781"/>
                  </a:lnTo>
                  <a:lnTo>
                    <a:pt x="5257927" y="152781"/>
                  </a:lnTo>
                  <a:lnTo>
                    <a:pt x="5257927" y="1821561"/>
                  </a:lnTo>
                  <a:lnTo>
                    <a:pt x="5251577" y="1821561"/>
                  </a:lnTo>
                  <a:lnTo>
                    <a:pt x="5257927" y="1821561"/>
                  </a:lnTo>
                  <a:cubicBezTo>
                    <a:pt x="5257927" y="1905889"/>
                    <a:pt x="5189220" y="1974342"/>
                    <a:pt x="5104638" y="1974342"/>
                  </a:cubicBezTo>
                  <a:lnTo>
                    <a:pt x="5104638" y="1967992"/>
                  </a:lnTo>
                  <a:lnTo>
                    <a:pt x="5104638" y="1974342"/>
                  </a:lnTo>
                  <a:lnTo>
                    <a:pt x="153289" y="1974342"/>
                  </a:lnTo>
                  <a:lnTo>
                    <a:pt x="153289" y="1967992"/>
                  </a:lnTo>
                  <a:lnTo>
                    <a:pt x="153289" y="1974342"/>
                  </a:lnTo>
                  <a:cubicBezTo>
                    <a:pt x="68707" y="1974215"/>
                    <a:pt x="0" y="1905889"/>
                    <a:pt x="0" y="1821561"/>
                  </a:cubicBezTo>
                  <a:lnTo>
                    <a:pt x="0" y="152781"/>
                  </a:lnTo>
                  <a:lnTo>
                    <a:pt x="6350" y="152781"/>
                  </a:lnTo>
                  <a:lnTo>
                    <a:pt x="0" y="152781"/>
                  </a:lnTo>
                  <a:moveTo>
                    <a:pt x="12700" y="152781"/>
                  </a:moveTo>
                  <a:lnTo>
                    <a:pt x="12700" y="1821561"/>
                  </a:lnTo>
                  <a:lnTo>
                    <a:pt x="6350" y="1821561"/>
                  </a:lnTo>
                  <a:lnTo>
                    <a:pt x="12700" y="1821561"/>
                  </a:lnTo>
                  <a:cubicBezTo>
                    <a:pt x="12700" y="1898904"/>
                    <a:pt x="75692" y="1961642"/>
                    <a:pt x="153289" y="1961642"/>
                  </a:cubicBezTo>
                  <a:lnTo>
                    <a:pt x="5104638" y="1961642"/>
                  </a:lnTo>
                  <a:cubicBezTo>
                    <a:pt x="5182362" y="1961642"/>
                    <a:pt x="5245227" y="1898904"/>
                    <a:pt x="5245227" y="1821561"/>
                  </a:cubicBezTo>
                  <a:lnTo>
                    <a:pt x="5245227" y="152781"/>
                  </a:lnTo>
                  <a:cubicBezTo>
                    <a:pt x="5245354" y="75438"/>
                    <a:pt x="5182362" y="12700"/>
                    <a:pt x="5104638" y="12700"/>
                  </a:cubicBezTo>
                  <a:lnTo>
                    <a:pt x="153289" y="12700"/>
                  </a:lnTo>
                  <a:lnTo>
                    <a:pt x="153289" y="6350"/>
                  </a:lnTo>
                  <a:lnTo>
                    <a:pt x="153289" y="12700"/>
                  </a:lnTo>
                  <a:cubicBezTo>
                    <a:pt x="75692" y="12700"/>
                    <a:pt x="12700" y="75438"/>
                    <a:pt x="12700" y="152781"/>
                  </a:cubicBezTo>
                  <a:close/>
                </a:path>
              </a:pathLst>
            </a:custGeom>
            <a:solidFill>
              <a:srgbClr val="BFD3D8"/>
            </a:solid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9535268" y="8328269"/>
            <a:ext cx="3267227" cy="427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562">
                <a:solidFill>
                  <a:srgbClr val="384653"/>
                </a:solidFill>
                <a:latin typeface="Arimo"/>
                <a:ea typeface="Arimo"/>
                <a:cs typeface="Arimo"/>
                <a:sym typeface="Arimo"/>
              </a:rPr>
              <a:t>1.9%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535268" y="8833399"/>
            <a:ext cx="3392243" cy="44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7"/>
              </a:lnSpc>
            </a:pPr>
            <a:r>
              <a:rPr lang="en-US" sz="2000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Avg Complaint Ratio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13434565" y="8071695"/>
            <a:ext cx="3943502" cy="1480690"/>
            <a:chOff x="0" y="0"/>
            <a:chExt cx="5258003" cy="1974253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6350" y="6350"/>
              <a:ext cx="5245227" cy="1961642"/>
            </a:xfrm>
            <a:custGeom>
              <a:avLst/>
              <a:gdLst/>
              <a:ahLst/>
              <a:cxnLst/>
              <a:rect r="r" b="b" t="t" l="l"/>
              <a:pathLst>
                <a:path h="1961642" w="5245227">
                  <a:moveTo>
                    <a:pt x="0" y="146431"/>
                  </a:moveTo>
                  <a:cubicBezTo>
                    <a:pt x="0" y="65532"/>
                    <a:pt x="65786" y="0"/>
                    <a:pt x="146939" y="0"/>
                  </a:cubicBezTo>
                  <a:lnTo>
                    <a:pt x="5098288" y="0"/>
                  </a:lnTo>
                  <a:cubicBezTo>
                    <a:pt x="5179441" y="0"/>
                    <a:pt x="5245227" y="65532"/>
                    <a:pt x="5245227" y="146431"/>
                  </a:cubicBezTo>
                  <a:lnTo>
                    <a:pt x="5245227" y="1815211"/>
                  </a:lnTo>
                  <a:cubicBezTo>
                    <a:pt x="5245227" y="1896110"/>
                    <a:pt x="5179441" y="1961642"/>
                    <a:pt x="5098288" y="1961642"/>
                  </a:cubicBezTo>
                  <a:lnTo>
                    <a:pt x="146939" y="1961642"/>
                  </a:lnTo>
                  <a:cubicBezTo>
                    <a:pt x="65786" y="1961515"/>
                    <a:pt x="0" y="1895983"/>
                    <a:pt x="0" y="1815211"/>
                  </a:cubicBezTo>
                  <a:close/>
                </a:path>
              </a:pathLst>
            </a:custGeom>
            <a:solidFill>
              <a:srgbClr val="D9EDF2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257927" cy="1974342"/>
            </a:xfrm>
            <a:custGeom>
              <a:avLst/>
              <a:gdLst/>
              <a:ahLst/>
              <a:cxnLst/>
              <a:rect r="r" b="b" t="t" l="l"/>
              <a:pathLst>
                <a:path h="1974342" w="5257927">
                  <a:moveTo>
                    <a:pt x="0" y="152781"/>
                  </a:moveTo>
                  <a:cubicBezTo>
                    <a:pt x="0" y="68326"/>
                    <a:pt x="68707" y="0"/>
                    <a:pt x="153289" y="0"/>
                  </a:cubicBezTo>
                  <a:lnTo>
                    <a:pt x="5104638" y="0"/>
                  </a:lnTo>
                  <a:lnTo>
                    <a:pt x="5104638" y="6350"/>
                  </a:lnTo>
                  <a:lnTo>
                    <a:pt x="5104638" y="0"/>
                  </a:lnTo>
                  <a:cubicBezTo>
                    <a:pt x="5189347" y="0"/>
                    <a:pt x="5257927" y="68326"/>
                    <a:pt x="5257927" y="152781"/>
                  </a:cubicBezTo>
                  <a:lnTo>
                    <a:pt x="5251577" y="152781"/>
                  </a:lnTo>
                  <a:lnTo>
                    <a:pt x="5257927" y="152781"/>
                  </a:lnTo>
                  <a:lnTo>
                    <a:pt x="5257927" y="1821561"/>
                  </a:lnTo>
                  <a:lnTo>
                    <a:pt x="5251577" y="1821561"/>
                  </a:lnTo>
                  <a:lnTo>
                    <a:pt x="5257927" y="1821561"/>
                  </a:lnTo>
                  <a:cubicBezTo>
                    <a:pt x="5257927" y="1905889"/>
                    <a:pt x="5189220" y="1974342"/>
                    <a:pt x="5104638" y="1974342"/>
                  </a:cubicBezTo>
                  <a:lnTo>
                    <a:pt x="5104638" y="1967992"/>
                  </a:lnTo>
                  <a:lnTo>
                    <a:pt x="5104638" y="1974342"/>
                  </a:lnTo>
                  <a:lnTo>
                    <a:pt x="153289" y="1974342"/>
                  </a:lnTo>
                  <a:lnTo>
                    <a:pt x="153289" y="1967992"/>
                  </a:lnTo>
                  <a:lnTo>
                    <a:pt x="153289" y="1974342"/>
                  </a:lnTo>
                  <a:cubicBezTo>
                    <a:pt x="68707" y="1974215"/>
                    <a:pt x="0" y="1905889"/>
                    <a:pt x="0" y="1821561"/>
                  </a:cubicBezTo>
                  <a:lnTo>
                    <a:pt x="0" y="152781"/>
                  </a:lnTo>
                  <a:lnTo>
                    <a:pt x="6350" y="152781"/>
                  </a:lnTo>
                  <a:lnTo>
                    <a:pt x="0" y="152781"/>
                  </a:lnTo>
                  <a:moveTo>
                    <a:pt x="12700" y="152781"/>
                  </a:moveTo>
                  <a:lnTo>
                    <a:pt x="12700" y="1821561"/>
                  </a:lnTo>
                  <a:lnTo>
                    <a:pt x="6350" y="1821561"/>
                  </a:lnTo>
                  <a:lnTo>
                    <a:pt x="12700" y="1821561"/>
                  </a:lnTo>
                  <a:cubicBezTo>
                    <a:pt x="12700" y="1898904"/>
                    <a:pt x="75692" y="1961642"/>
                    <a:pt x="153289" y="1961642"/>
                  </a:cubicBezTo>
                  <a:lnTo>
                    <a:pt x="5104638" y="1961642"/>
                  </a:lnTo>
                  <a:cubicBezTo>
                    <a:pt x="5182362" y="1961642"/>
                    <a:pt x="5245227" y="1898904"/>
                    <a:pt x="5245227" y="1821561"/>
                  </a:cubicBezTo>
                  <a:lnTo>
                    <a:pt x="5245227" y="152781"/>
                  </a:lnTo>
                  <a:cubicBezTo>
                    <a:pt x="5245354" y="75438"/>
                    <a:pt x="5182362" y="12700"/>
                    <a:pt x="5104638" y="12700"/>
                  </a:cubicBezTo>
                  <a:lnTo>
                    <a:pt x="153289" y="12700"/>
                  </a:lnTo>
                  <a:lnTo>
                    <a:pt x="153289" y="6350"/>
                  </a:lnTo>
                  <a:lnTo>
                    <a:pt x="153289" y="12700"/>
                  </a:lnTo>
                  <a:cubicBezTo>
                    <a:pt x="75692" y="12700"/>
                    <a:pt x="12700" y="75438"/>
                    <a:pt x="12700" y="152781"/>
                  </a:cubicBezTo>
                  <a:close/>
                </a:path>
              </a:pathLst>
            </a:custGeom>
            <a:solidFill>
              <a:srgbClr val="BFD3D8"/>
            </a:solid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13710199" y="8328269"/>
            <a:ext cx="3267227" cy="427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562">
                <a:solidFill>
                  <a:srgbClr val="384653"/>
                </a:solidFill>
                <a:latin typeface="Arimo"/>
                <a:ea typeface="Arimo"/>
                <a:cs typeface="Arimo"/>
                <a:sym typeface="Arimo"/>
              </a:rPr>
              <a:t>Vigilant Insurance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3710199" y="8833399"/>
            <a:ext cx="3392243" cy="44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7"/>
              </a:lnSpc>
            </a:pPr>
            <a:r>
              <a:rPr lang="en-US" sz="2000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Best Company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C7E0E7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AF9F5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61282" y="767658"/>
            <a:ext cx="10180882" cy="915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49"/>
              </a:lnSpc>
            </a:pPr>
            <a:r>
              <a:rPr lang="en-US" sz="5374">
                <a:solidFill>
                  <a:srgbClr val="2E3C4E"/>
                </a:solidFill>
                <a:latin typeface="Arimo"/>
                <a:ea typeface="Arimo"/>
                <a:cs typeface="Arimo"/>
                <a:sym typeface="Arimo"/>
              </a:rPr>
              <a:t>Company Comparison (Tableau)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61282" y="2319490"/>
            <a:ext cx="4369298" cy="4576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687">
                <a:solidFill>
                  <a:srgbClr val="2E3C4E"/>
                </a:solidFill>
                <a:latin typeface="Arimo"/>
                <a:ea typeface="Arimo"/>
                <a:cs typeface="Arimo"/>
                <a:sym typeface="Arimo"/>
              </a:rPr>
              <a:t>Top 5 by Complaint Volume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61282" y="2976410"/>
            <a:ext cx="10402938" cy="472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125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High volume driven by large customer base: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61282" y="3621434"/>
            <a:ext cx="10402938" cy="19679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0477" indent="-160238" lvl="1">
              <a:lnSpc>
                <a:spcPts val="3187"/>
              </a:lnSpc>
              <a:buFont typeface="Arial"/>
              <a:buChar char="•"/>
            </a:pPr>
            <a:r>
              <a:rPr lang="en-US" sz="2125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Allstate Insurance</a:t>
            </a:r>
          </a:p>
          <a:p>
            <a:pPr algn="l" marL="320477" indent="-160238" lvl="1">
              <a:lnSpc>
                <a:spcPts val="3187"/>
              </a:lnSpc>
              <a:buFont typeface="Arial"/>
              <a:buChar char="•"/>
            </a:pPr>
            <a:r>
              <a:rPr lang="en-US" sz="2125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GEICO</a:t>
            </a:r>
          </a:p>
          <a:p>
            <a:pPr algn="l" marL="320477" indent="-160238" lvl="1">
              <a:lnSpc>
                <a:spcPts val="3187"/>
              </a:lnSpc>
              <a:buFont typeface="Arial"/>
              <a:buChar char="•"/>
            </a:pPr>
            <a:r>
              <a:rPr lang="en-US" sz="2125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State Farm</a:t>
            </a:r>
          </a:p>
          <a:p>
            <a:pPr algn="l" marL="320477" indent="-160238" lvl="1">
              <a:lnSpc>
                <a:spcPts val="3187"/>
              </a:lnSpc>
              <a:buFont typeface="Arial"/>
              <a:buChar char="•"/>
            </a:pPr>
            <a:r>
              <a:rPr lang="en-US" sz="2125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Country-Wide Insurance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61282" y="5826766"/>
            <a:ext cx="5191573" cy="4576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687">
                <a:solidFill>
                  <a:srgbClr val="2E3C4E"/>
                </a:solidFill>
                <a:latin typeface="Arimo"/>
                <a:ea typeface="Arimo"/>
                <a:cs typeface="Arimo"/>
                <a:sym typeface="Arimo"/>
              </a:rPr>
              <a:t>Top 3 by Lowest Complaint Ratio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61282" y="6483696"/>
            <a:ext cx="10402938" cy="14693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0477" indent="-160238" lvl="1">
              <a:lnSpc>
                <a:spcPts val="3187"/>
              </a:lnSpc>
              <a:buFont typeface="Arial"/>
              <a:buChar char="•"/>
            </a:pPr>
            <a:r>
              <a:rPr lang="en-US" sz="2125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Zurich American</a:t>
            </a:r>
          </a:p>
          <a:p>
            <a:pPr algn="l" marL="320477" indent="-160238" lvl="1">
              <a:lnSpc>
                <a:spcPts val="3187"/>
              </a:lnSpc>
              <a:buFont typeface="Arial"/>
              <a:buChar char="•"/>
            </a:pPr>
            <a:r>
              <a:rPr lang="en-US" sz="2125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Greater New York</a:t>
            </a:r>
          </a:p>
          <a:p>
            <a:pPr algn="l" marL="320477" indent="-160238" lvl="1">
              <a:lnSpc>
                <a:spcPts val="3187"/>
              </a:lnSpc>
              <a:buFont typeface="Arial"/>
              <a:buChar char="•"/>
            </a:pPr>
            <a:r>
              <a:rPr lang="en-US" sz="2125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OneBeacon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2043772" y="2417864"/>
            <a:ext cx="5292328" cy="5292328"/>
            <a:chOff x="0" y="0"/>
            <a:chExt cx="7056438" cy="7056438"/>
          </a:xfrm>
        </p:grpSpPr>
        <p:sp>
          <p:nvSpPr>
            <p:cNvPr name="Freeform 13" id="13" descr="preencoded.png"/>
            <p:cNvSpPr/>
            <p:nvPr/>
          </p:nvSpPr>
          <p:spPr>
            <a:xfrm flipH="false" flipV="false" rot="0">
              <a:off x="0" y="0"/>
              <a:ext cx="7056501" cy="7056501"/>
            </a:xfrm>
            <a:custGeom>
              <a:avLst/>
              <a:gdLst/>
              <a:ahLst/>
              <a:cxnLst/>
              <a:rect r="r" b="b" t="t" l="l"/>
              <a:pathLst>
                <a:path h="7056501" w="7056501">
                  <a:moveTo>
                    <a:pt x="0" y="0"/>
                  </a:moveTo>
                  <a:lnTo>
                    <a:pt x="7056501" y="0"/>
                  </a:lnTo>
                  <a:lnTo>
                    <a:pt x="7056501" y="7056501"/>
                  </a:lnTo>
                  <a:lnTo>
                    <a:pt x="0" y="70565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961282" y="8345386"/>
            <a:ext cx="16365436" cy="1116806"/>
            <a:chOff x="0" y="0"/>
            <a:chExt cx="21820581" cy="148907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1820505" cy="1489075"/>
            </a:xfrm>
            <a:custGeom>
              <a:avLst/>
              <a:gdLst/>
              <a:ahLst/>
              <a:cxnLst/>
              <a:rect r="r" b="b" t="t" l="l"/>
              <a:pathLst>
                <a:path h="1489075" w="21820505">
                  <a:moveTo>
                    <a:pt x="0" y="153797"/>
                  </a:moveTo>
                  <a:cubicBezTo>
                    <a:pt x="0" y="68834"/>
                    <a:pt x="68834" y="0"/>
                    <a:pt x="153797" y="0"/>
                  </a:cubicBezTo>
                  <a:lnTo>
                    <a:pt x="21666708" y="0"/>
                  </a:lnTo>
                  <a:cubicBezTo>
                    <a:pt x="21751671" y="0"/>
                    <a:pt x="21820505" y="68834"/>
                    <a:pt x="21820505" y="153797"/>
                  </a:cubicBezTo>
                  <a:lnTo>
                    <a:pt x="21820505" y="1335278"/>
                  </a:lnTo>
                  <a:cubicBezTo>
                    <a:pt x="21820505" y="1420241"/>
                    <a:pt x="21751671" y="1489075"/>
                    <a:pt x="21666708" y="1489075"/>
                  </a:cubicBezTo>
                  <a:lnTo>
                    <a:pt x="153797" y="1489075"/>
                  </a:lnTo>
                  <a:cubicBezTo>
                    <a:pt x="68834" y="1489075"/>
                    <a:pt x="0" y="1420241"/>
                    <a:pt x="0" y="1335278"/>
                  </a:cubicBezTo>
                  <a:close/>
                </a:path>
              </a:pathLst>
            </a:custGeom>
            <a:solidFill>
              <a:srgbClr val="C6E4EB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235869" y="8743502"/>
            <a:ext cx="343195" cy="274587"/>
            <a:chOff x="0" y="0"/>
            <a:chExt cx="457594" cy="366116"/>
          </a:xfrm>
        </p:grpSpPr>
        <p:sp>
          <p:nvSpPr>
            <p:cNvPr name="Freeform 17" id="17" descr="preencoded.png"/>
            <p:cNvSpPr/>
            <p:nvPr/>
          </p:nvSpPr>
          <p:spPr>
            <a:xfrm flipH="false" flipV="false" rot="0">
              <a:off x="0" y="0"/>
              <a:ext cx="457581" cy="366141"/>
            </a:xfrm>
            <a:custGeom>
              <a:avLst/>
              <a:gdLst/>
              <a:ahLst/>
              <a:cxnLst/>
              <a:rect r="r" b="b" t="t" l="l"/>
              <a:pathLst>
                <a:path h="366141" w="457581">
                  <a:moveTo>
                    <a:pt x="0" y="0"/>
                  </a:moveTo>
                  <a:lnTo>
                    <a:pt x="457581" y="0"/>
                  </a:lnTo>
                  <a:lnTo>
                    <a:pt x="457581" y="366141"/>
                  </a:lnTo>
                  <a:lnTo>
                    <a:pt x="0" y="3661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343" r="-2" b="-332"/>
              </a:stretch>
            </a:blip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1853651" y="8613277"/>
            <a:ext cx="15198481" cy="472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125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Companies with low complaint ratio demonstrate better service. Higher premiums do </a:t>
            </a:r>
            <a:r>
              <a:rPr lang="en-US" sz="2125" b="tru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not</a:t>
            </a:r>
            <a:r>
              <a:rPr lang="en-US" sz="2125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always mean more complaints.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C7E0E7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AF9F5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7200900" cy="10287000"/>
            <a:chOff x="0" y="0"/>
            <a:chExt cx="9601200" cy="13716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6012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601200">
                  <a:moveTo>
                    <a:pt x="0" y="0"/>
                  </a:moveTo>
                  <a:lnTo>
                    <a:pt x="9601200" y="0"/>
                  </a:lnTo>
                  <a:lnTo>
                    <a:pt x="96012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9EDF2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24120" y="1177528"/>
            <a:ext cx="5287861" cy="7931944"/>
            <a:chOff x="0" y="0"/>
            <a:chExt cx="7050481" cy="10575925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7050532" cy="10575925"/>
            </a:xfrm>
            <a:custGeom>
              <a:avLst/>
              <a:gdLst/>
              <a:ahLst/>
              <a:cxnLst/>
              <a:rect r="r" b="b" t="t" l="l"/>
              <a:pathLst>
                <a:path h="10575925" w="7050532">
                  <a:moveTo>
                    <a:pt x="0" y="0"/>
                  </a:moveTo>
                  <a:lnTo>
                    <a:pt x="7050532" y="0"/>
                  </a:lnTo>
                  <a:lnTo>
                    <a:pt x="7050532" y="10575925"/>
                  </a:lnTo>
                  <a:lnTo>
                    <a:pt x="0" y="105759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4" t="0" r="-23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7726261" y="863051"/>
            <a:ext cx="9553127" cy="8131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62"/>
              </a:lnSpc>
            </a:pPr>
            <a:r>
              <a:rPr lang="en-US" sz="4875">
                <a:solidFill>
                  <a:srgbClr val="2E3C4E"/>
                </a:solidFill>
                <a:latin typeface="Arimo"/>
                <a:ea typeface="Arimo"/>
                <a:cs typeface="Arimo"/>
                <a:sym typeface="Arimo"/>
              </a:rPr>
              <a:t>Key Insights &amp; Recommendations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7711973" y="1987448"/>
            <a:ext cx="9722053" cy="2722664"/>
            <a:chOff x="0" y="0"/>
            <a:chExt cx="12962738" cy="363021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9050" y="19050"/>
              <a:ext cx="12924663" cy="3592068"/>
            </a:xfrm>
            <a:custGeom>
              <a:avLst/>
              <a:gdLst/>
              <a:ahLst/>
              <a:cxnLst/>
              <a:rect r="r" b="b" t="t" l="l"/>
              <a:pathLst>
                <a:path h="3592068" w="12924663">
                  <a:moveTo>
                    <a:pt x="0" y="182880"/>
                  </a:moveTo>
                  <a:cubicBezTo>
                    <a:pt x="0" y="81915"/>
                    <a:pt x="82550" y="0"/>
                    <a:pt x="184277" y="0"/>
                  </a:cubicBezTo>
                  <a:lnTo>
                    <a:pt x="12740386" y="0"/>
                  </a:lnTo>
                  <a:cubicBezTo>
                    <a:pt x="12842113" y="0"/>
                    <a:pt x="12924663" y="81915"/>
                    <a:pt x="12924663" y="182880"/>
                  </a:cubicBezTo>
                  <a:lnTo>
                    <a:pt x="12924663" y="3409188"/>
                  </a:lnTo>
                  <a:cubicBezTo>
                    <a:pt x="12924663" y="3510153"/>
                    <a:pt x="12842113" y="3592068"/>
                    <a:pt x="12740386" y="3592068"/>
                  </a:cubicBezTo>
                  <a:lnTo>
                    <a:pt x="184277" y="3592068"/>
                  </a:lnTo>
                  <a:cubicBezTo>
                    <a:pt x="82550" y="3592068"/>
                    <a:pt x="0" y="3510280"/>
                    <a:pt x="0" y="3409188"/>
                  </a:cubicBezTo>
                  <a:close/>
                </a:path>
              </a:pathLst>
            </a:custGeom>
            <a:solidFill>
              <a:srgbClr val="FAF9F5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962763" cy="3630168"/>
            </a:xfrm>
            <a:custGeom>
              <a:avLst/>
              <a:gdLst/>
              <a:ahLst/>
              <a:cxnLst/>
              <a:rect r="r" b="b" t="t" l="l"/>
              <a:pathLst>
                <a:path h="3630168" w="12962763">
                  <a:moveTo>
                    <a:pt x="0" y="201930"/>
                  </a:moveTo>
                  <a:cubicBezTo>
                    <a:pt x="0" y="90297"/>
                    <a:pt x="91186" y="0"/>
                    <a:pt x="203327" y="0"/>
                  </a:cubicBezTo>
                  <a:lnTo>
                    <a:pt x="12759436" y="0"/>
                  </a:lnTo>
                  <a:lnTo>
                    <a:pt x="12759436" y="19050"/>
                  </a:lnTo>
                  <a:lnTo>
                    <a:pt x="12759436" y="0"/>
                  </a:lnTo>
                  <a:cubicBezTo>
                    <a:pt x="12871577" y="0"/>
                    <a:pt x="12962763" y="90297"/>
                    <a:pt x="12962763" y="201930"/>
                  </a:cubicBezTo>
                  <a:lnTo>
                    <a:pt x="12943713" y="201930"/>
                  </a:lnTo>
                  <a:lnTo>
                    <a:pt x="12962763" y="201930"/>
                  </a:lnTo>
                  <a:lnTo>
                    <a:pt x="12962763" y="3428238"/>
                  </a:lnTo>
                  <a:lnTo>
                    <a:pt x="12943713" y="3428238"/>
                  </a:lnTo>
                  <a:lnTo>
                    <a:pt x="12962763" y="3428238"/>
                  </a:lnTo>
                  <a:cubicBezTo>
                    <a:pt x="12962763" y="3539871"/>
                    <a:pt x="12871577" y="3630168"/>
                    <a:pt x="12759436" y="3630168"/>
                  </a:cubicBezTo>
                  <a:lnTo>
                    <a:pt x="12759436" y="3611118"/>
                  </a:lnTo>
                  <a:lnTo>
                    <a:pt x="12759436" y="3630168"/>
                  </a:lnTo>
                  <a:lnTo>
                    <a:pt x="203327" y="3630168"/>
                  </a:lnTo>
                  <a:lnTo>
                    <a:pt x="203327" y="3611118"/>
                  </a:lnTo>
                  <a:lnTo>
                    <a:pt x="203327" y="3630168"/>
                  </a:lnTo>
                  <a:cubicBezTo>
                    <a:pt x="91186" y="3630168"/>
                    <a:pt x="0" y="3539998"/>
                    <a:pt x="0" y="3428238"/>
                  </a:cubicBezTo>
                  <a:lnTo>
                    <a:pt x="0" y="201930"/>
                  </a:lnTo>
                  <a:lnTo>
                    <a:pt x="19050" y="201930"/>
                  </a:lnTo>
                  <a:lnTo>
                    <a:pt x="0" y="201930"/>
                  </a:lnTo>
                  <a:moveTo>
                    <a:pt x="38100" y="201930"/>
                  </a:moveTo>
                  <a:lnTo>
                    <a:pt x="38100" y="3428238"/>
                  </a:lnTo>
                  <a:lnTo>
                    <a:pt x="19050" y="3428238"/>
                  </a:lnTo>
                  <a:lnTo>
                    <a:pt x="38100" y="3428238"/>
                  </a:lnTo>
                  <a:cubicBezTo>
                    <a:pt x="38100" y="3518535"/>
                    <a:pt x="111887" y="3592068"/>
                    <a:pt x="203327" y="3592068"/>
                  </a:cubicBezTo>
                  <a:lnTo>
                    <a:pt x="12759436" y="3592068"/>
                  </a:lnTo>
                  <a:cubicBezTo>
                    <a:pt x="12850876" y="3592068"/>
                    <a:pt x="12924663" y="3518535"/>
                    <a:pt x="12924663" y="3428238"/>
                  </a:cubicBezTo>
                  <a:lnTo>
                    <a:pt x="12924663" y="201930"/>
                  </a:lnTo>
                  <a:cubicBezTo>
                    <a:pt x="12924663" y="111633"/>
                    <a:pt x="12850876" y="38100"/>
                    <a:pt x="12759436" y="38100"/>
                  </a:cubicBezTo>
                  <a:lnTo>
                    <a:pt x="203327" y="38100"/>
                  </a:lnTo>
                  <a:lnTo>
                    <a:pt x="203327" y="19050"/>
                  </a:lnTo>
                  <a:lnTo>
                    <a:pt x="203327" y="38100"/>
                  </a:lnTo>
                  <a:cubicBezTo>
                    <a:pt x="111887" y="38100"/>
                    <a:pt x="38100" y="111633"/>
                    <a:pt x="38100" y="201930"/>
                  </a:cubicBezTo>
                  <a:close/>
                </a:path>
              </a:pathLst>
            </a:custGeom>
            <a:solidFill>
              <a:srgbClr val="BFD3D8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7697686" y="2001736"/>
            <a:ext cx="114300" cy="2694089"/>
            <a:chOff x="0" y="0"/>
            <a:chExt cx="152400" cy="3592119"/>
          </a:xfrm>
        </p:grpSpPr>
        <p:sp>
          <p:nvSpPr>
            <p:cNvPr name="Freeform 15" id="15" descr="preencoded.png"/>
            <p:cNvSpPr/>
            <p:nvPr/>
          </p:nvSpPr>
          <p:spPr>
            <a:xfrm flipH="false" flipV="false" rot="0">
              <a:off x="0" y="0"/>
              <a:ext cx="152400" cy="3592068"/>
            </a:xfrm>
            <a:custGeom>
              <a:avLst/>
              <a:gdLst/>
              <a:ahLst/>
              <a:cxnLst/>
              <a:rect r="r" b="b" t="t" l="l"/>
              <a:pathLst>
                <a:path h="3592068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3592068"/>
                  </a:lnTo>
                  <a:lnTo>
                    <a:pt x="0" y="35920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27" r="0" b="-28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8088516" y="2268741"/>
            <a:ext cx="3101130" cy="397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37">
                <a:solidFill>
                  <a:srgbClr val="384653"/>
                </a:solidFill>
                <a:latin typeface="Arimo"/>
                <a:ea typeface="Arimo"/>
                <a:cs typeface="Arimo"/>
                <a:sym typeface="Arimo"/>
              </a:rPr>
              <a:t>Key Insights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088516" y="2748553"/>
            <a:ext cx="9054703" cy="1670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92199" indent="-146100" lvl="1">
              <a:lnSpc>
                <a:spcPts val="2687"/>
              </a:lnSpc>
              <a:buFont typeface="Arial"/>
              <a:buChar char="•"/>
            </a:pPr>
            <a:r>
              <a:rPr lang="en-US" sz="1937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Most complaints are not upheld → customer misunderstanding or false claims</a:t>
            </a:r>
          </a:p>
          <a:p>
            <a:pPr algn="l" marL="292199" indent="-146100" lvl="1">
              <a:lnSpc>
                <a:spcPts val="2687"/>
              </a:lnSpc>
              <a:buFont typeface="Arial"/>
              <a:buChar char="•"/>
            </a:pPr>
            <a:r>
              <a:rPr lang="en-US" sz="1937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Complaint ratio is generally low across companies</a:t>
            </a:r>
          </a:p>
          <a:p>
            <a:pPr algn="l" marL="292199" indent="-146100" lvl="1">
              <a:lnSpc>
                <a:spcPts val="2687"/>
              </a:lnSpc>
              <a:buFont typeface="Arial"/>
              <a:buChar char="•"/>
            </a:pPr>
            <a:r>
              <a:rPr lang="en-US" sz="1937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Premium growth shows strong insurance market performance</a:t>
            </a:r>
          </a:p>
          <a:p>
            <a:pPr algn="l" marL="292199" indent="-146100" lvl="1">
              <a:lnSpc>
                <a:spcPts val="2687"/>
              </a:lnSpc>
              <a:buFont typeface="Arial"/>
              <a:buChar char="•"/>
            </a:pPr>
            <a:r>
              <a:rPr lang="en-US" sz="1937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Companies with low complaint ratio provide better service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7711973" y="4898527"/>
            <a:ext cx="9722053" cy="2722664"/>
            <a:chOff x="0" y="0"/>
            <a:chExt cx="12962738" cy="363021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19050" y="19050"/>
              <a:ext cx="12924663" cy="3592068"/>
            </a:xfrm>
            <a:custGeom>
              <a:avLst/>
              <a:gdLst/>
              <a:ahLst/>
              <a:cxnLst/>
              <a:rect r="r" b="b" t="t" l="l"/>
              <a:pathLst>
                <a:path h="3592068" w="12924663">
                  <a:moveTo>
                    <a:pt x="0" y="182880"/>
                  </a:moveTo>
                  <a:cubicBezTo>
                    <a:pt x="0" y="81915"/>
                    <a:pt x="82550" y="0"/>
                    <a:pt x="184277" y="0"/>
                  </a:cubicBezTo>
                  <a:lnTo>
                    <a:pt x="12740386" y="0"/>
                  </a:lnTo>
                  <a:cubicBezTo>
                    <a:pt x="12842113" y="0"/>
                    <a:pt x="12924663" y="81915"/>
                    <a:pt x="12924663" y="182880"/>
                  </a:cubicBezTo>
                  <a:lnTo>
                    <a:pt x="12924663" y="3409188"/>
                  </a:lnTo>
                  <a:cubicBezTo>
                    <a:pt x="12924663" y="3510153"/>
                    <a:pt x="12842113" y="3592068"/>
                    <a:pt x="12740386" y="3592068"/>
                  </a:cubicBezTo>
                  <a:lnTo>
                    <a:pt x="184277" y="3592068"/>
                  </a:lnTo>
                  <a:cubicBezTo>
                    <a:pt x="82550" y="3592068"/>
                    <a:pt x="0" y="3510280"/>
                    <a:pt x="0" y="3409188"/>
                  </a:cubicBezTo>
                  <a:close/>
                </a:path>
              </a:pathLst>
            </a:custGeom>
            <a:solidFill>
              <a:srgbClr val="FAF9F5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2962763" cy="3630168"/>
            </a:xfrm>
            <a:custGeom>
              <a:avLst/>
              <a:gdLst/>
              <a:ahLst/>
              <a:cxnLst/>
              <a:rect r="r" b="b" t="t" l="l"/>
              <a:pathLst>
                <a:path h="3630168" w="12962763">
                  <a:moveTo>
                    <a:pt x="0" y="201930"/>
                  </a:moveTo>
                  <a:cubicBezTo>
                    <a:pt x="0" y="90297"/>
                    <a:pt x="91186" y="0"/>
                    <a:pt x="203327" y="0"/>
                  </a:cubicBezTo>
                  <a:lnTo>
                    <a:pt x="12759436" y="0"/>
                  </a:lnTo>
                  <a:lnTo>
                    <a:pt x="12759436" y="19050"/>
                  </a:lnTo>
                  <a:lnTo>
                    <a:pt x="12759436" y="0"/>
                  </a:lnTo>
                  <a:cubicBezTo>
                    <a:pt x="12871577" y="0"/>
                    <a:pt x="12962763" y="90297"/>
                    <a:pt x="12962763" y="201930"/>
                  </a:cubicBezTo>
                  <a:lnTo>
                    <a:pt x="12943713" y="201930"/>
                  </a:lnTo>
                  <a:lnTo>
                    <a:pt x="12962763" y="201930"/>
                  </a:lnTo>
                  <a:lnTo>
                    <a:pt x="12962763" y="3428238"/>
                  </a:lnTo>
                  <a:lnTo>
                    <a:pt x="12943713" y="3428238"/>
                  </a:lnTo>
                  <a:lnTo>
                    <a:pt x="12962763" y="3428238"/>
                  </a:lnTo>
                  <a:cubicBezTo>
                    <a:pt x="12962763" y="3539871"/>
                    <a:pt x="12871577" y="3630168"/>
                    <a:pt x="12759436" y="3630168"/>
                  </a:cubicBezTo>
                  <a:lnTo>
                    <a:pt x="12759436" y="3611118"/>
                  </a:lnTo>
                  <a:lnTo>
                    <a:pt x="12759436" y="3630168"/>
                  </a:lnTo>
                  <a:lnTo>
                    <a:pt x="203327" y="3630168"/>
                  </a:lnTo>
                  <a:lnTo>
                    <a:pt x="203327" y="3611118"/>
                  </a:lnTo>
                  <a:lnTo>
                    <a:pt x="203327" y="3630168"/>
                  </a:lnTo>
                  <a:cubicBezTo>
                    <a:pt x="91186" y="3630168"/>
                    <a:pt x="0" y="3539998"/>
                    <a:pt x="0" y="3428238"/>
                  </a:cubicBezTo>
                  <a:lnTo>
                    <a:pt x="0" y="201930"/>
                  </a:lnTo>
                  <a:lnTo>
                    <a:pt x="19050" y="201930"/>
                  </a:lnTo>
                  <a:lnTo>
                    <a:pt x="0" y="201930"/>
                  </a:lnTo>
                  <a:moveTo>
                    <a:pt x="38100" y="201930"/>
                  </a:moveTo>
                  <a:lnTo>
                    <a:pt x="38100" y="3428238"/>
                  </a:lnTo>
                  <a:lnTo>
                    <a:pt x="19050" y="3428238"/>
                  </a:lnTo>
                  <a:lnTo>
                    <a:pt x="38100" y="3428238"/>
                  </a:lnTo>
                  <a:cubicBezTo>
                    <a:pt x="38100" y="3518535"/>
                    <a:pt x="111887" y="3592068"/>
                    <a:pt x="203327" y="3592068"/>
                  </a:cubicBezTo>
                  <a:lnTo>
                    <a:pt x="12759436" y="3592068"/>
                  </a:lnTo>
                  <a:cubicBezTo>
                    <a:pt x="12850876" y="3592068"/>
                    <a:pt x="12924663" y="3518535"/>
                    <a:pt x="12924663" y="3428238"/>
                  </a:cubicBezTo>
                  <a:lnTo>
                    <a:pt x="12924663" y="201930"/>
                  </a:lnTo>
                  <a:cubicBezTo>
                    <a:pt x="12924663" y="111633"/>
                    <a:pt x="12850876" y="38100"/>
                    <a:pt x="12759436" y="38100"/>
                  </a:cubicBezTo>
                  <a:lnTo>
                    <a:pt x="203327" y="38100"/>
                  </a:lnTo>
                  <a:lnTo>
                    <a:pt x="203327" y="19050"/>
                  </a:lnTo>
                  <a:lnTo>
                    <a:pt x="203327" y="38100"/>
                  </a:lnTo>
                  <a:cubicBezTo>
                    <a:pt x="111887" y="38100"/>
                    <a:pt x="38100" y="111633"/>
                    <a:pt x="38100" y="201930"/>
                  </a:cubicBezTo>
                  <a:close/>
                </a:path>
              </a:pathLst>
            </a:custGeom>
            <a:solidFill>
              <a:srgbClr val="BFD3D8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7697686" y="4912814"/>
            <a:ext cx="114300" cy="2694089"/>
            <a:chOff x="0" y="0"/>
            <a:chExt cx="152400" cy="3592119"/>
          </a:xfrm>
        </p:grpSpPr>
        <p:sp>
          <p:nvSpPr>
            <p:cNvPr name="Freeform 22" id="22" descr="preencoded.png"/>
            <p:cNvSpPr/>
            <p:nvPr/>
          </p:nvSpPr>
          <p:spPr>
            <a:xfrm flipH="false" flipV="false" rot="0">
              <a:off x="0" y="0"/>
              <a:ext cx="152400" cy="3592068"/>
            </a:xfrm>
            <a:custGeom>
              <a:avLst/>
              <a:gdLst/>
              <a:ahLst/>
              <a:cxnLst/>
              <a:rect r="r" b="b" t="t" l="l"/>
              <a:pathLst>
                <a:path h="3592068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3592068"/>
                  </a:lnTo>
                  <a:lnTo>
                    <a:pt x="0" y="35920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27" r="0" b="-28"/>
              </a:stretch>
            </a:blip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8088516" y="5179809"/>
            <a:ext cx="3101130" cy="397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37">
                <a:solidFill>
                  <a:srgbClr val="384653"/>
                </a:solidFill>
                <a:latin typeface="Arimo"/>
                <a:ea typeface="Arimo"/>
                <a:cs typeface="Arimo"/>
                <a:sym typeface="Arimo"/>
              </a:rPr>
              <a:t>Recommendations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088516" y="5659641"/>
            <a:ext cx="9054703" cy="1670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92199" indent="-146100" lvl="1">
              <a:lnSpc>
                <a:spcPts val="2687"/>
              </a:lnSpc>
              <a:buFont typeface="Arial"/>
              <a:buChar char="•"/>
            </a:pPr>
            <a:r>
              <a:rPr lang="en-US" sz="1937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Improve customer awareness about policy terms</a:t>
            </a:r>
          </a:p>
          <a:p>
            <a:pPr algn="l" marL="292199" indent="-146100" lvl="1">
              <a:lnSpc>
                <a:spcPts val="2687"/>
              </a:lnSpc>
              <a:buFont typeface="Arial"/>
              <a:buChar char="•"/>
            </a:pPr>
            <a:r>
              <a:rPr lang="en-US" sz="1937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Enhance claim transparency</a:t>
            </a:r>
          </a:p>
          <a:p>
            <a:pPr algn="l" marL="292199" indent="-146100" lvl="1">
              <a:lnSpc>
                <a:spcPts val="2687"/>
              </a:lnSpc>
              <a:buFont typeface="Arial"/>
              <a:buChar char="•"/>
            </a:pPr>
            <a:r>
              <a:rPr lang="en-US" sz="1937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Monitor complaint ratio regularly</a:t>
            </a:r>
          </a:p>
          <a:p>
            <a:pPr algn="l" marL="292199" indent="-146100" lvl="1">
              <a:lnSpc>
                <a:spcPts val="2687"/>
              </a:lnSpc>
              <a:buFont typeface="Arial"/>
              <a:buChar char="•"/>
            </a:pPr>
            <a:r>
              <a:rPr lang="en-US" sz="1937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Use dashboards for performance tracking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8098336" y="8047434"/>
            <a:ext cx="9321403" cy="1094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7"/>
              </a:lnSpc>
            </a:pPr>
            <a:r>
              <a:rPr lang="en-US" sz="1937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Insurance companies are able to scale their business (increase premiums) while maintaining low complaint ratios, indicating strong operational efficiency and customer service quality.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7726261" y="7850981"/>
            <a:ext cx="28575" cy="1534716"/>
            <a:chOff x="0" y="0"/>
            <a:chExt cx="38100" cy="204628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8100" cy="2046351"/>
            </a:xfrm>
            <a:custGeom>
              <a:avLst/>
              <a:gdLst/>
              <a:ahLst/>
              <a:cxnLst/>
              <a:rect r="r" b="b" t="t" l="l"/>
              <a:pathLst>
                <a:path h="2046351" w="38100">
                  <a:moveTo>
                    <a:pt x="0" y="0"/>
                  </a:moveTo>
                  <a:lnTo>
                    <a:pt x="38100" y="0"/>
                  </a:lnTo>
                  <a:lnTo>
                    <a:pt x="38100" y="2046351"/>
                  </a:lnTo>
                  <a:lnTo>
                    <a:pt x="0" y="2046351"/>
                  </a:lnTo>
                  <a:close/>
                </a:path>
              </a:pathLst>
            </a:custGeom>
            <a:solidFill>
              <a:srgbClr val="95CCDA"/>
            </a:solid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DAHGvqdw86s</dc:identifier>
  <dcterms:modified xsi:type="dcterms:W3CDTF">2011-08-01T06:04:30Z</dcterms:modified>
  <cp:revision>1</cp:revision>
  <dc:title>Automobile-Insurance-Analysis-Report.pptx</dc:title>
</cp:coreProperties>
</file>